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1"/>
  </p:notesMasterIdLst>
  <p:sldIdLst>
    <p:sldId id="274" r:id="rId2"/>
    <p:sldId id="295" r:id="rId3"/>
    <p:sldId id="297" r:id="rId4"/>
    <p:sldId id="280" r:id="rId5"/>
    <p:sldId id="273" r:id="rId6"/>
    <p:sldId id="275" r:id="rId7"/>
    <p:sldId id="276" r:id="rId8"/>
    <p:sldId id="277" r:id="rId9"/>
    <p:sldId id="296" r:id="rId10"/>
    <p:sldId id="278" r:id="rId11"/>
    <p:sldId id="279" r:id="rId12"/>
    <p:sldId id="257" r:id="rId13"/>
    <p:sldId id="256" r:id="rId14"/>
    <p:sldId id="260" r:id="rId15"/>
    <p:sldId id="263" r:id="rId16"/>
    <p:sldId id="259" r:id="rId17"/>
    <p:sldId id="258" r:id="rId18"/>
    <p:sldId id="289" r:id="rId19"/>
    <p:sldId id="293" r:id="rId20"/>
    <p:sldId id="267" r:id="rId21"/>
    <p:sldId id="294" r:id="rId22"/>
    <p:sldId id="282" r:id="rId23"/>
    <p:sldId id="264" r:id="rId24"/>
    <p:sldId id="265" r:id="rId25"/>
    <p:sldId id="281" r:id="rId26"/>
    <p:sldId id="268" r:id="rId27"/>
    <p:sldId id="283" r:id="rId28"/>
    <p:sldId id="284" r:id="rId29"/>
    <p:sldId id="285" r:id="rId30"/>
    <p:sldId id="292" r:id="rId31"/>
    <p:sldId id="270" r:id="rId32"/>
    <p:sldId id="271" r:id="rId33"/>
    <p:sldId id="272" r:id="rId34"/>
    <p:sldId id="298" r:id="rId35"/>
    <p:sldId id="286" r:id="rId36"/>
    <p:sldId id="287" r:id="rId37"/>
    <p:sldId id="290" r:id="rId38"/>
    <p:sldId id="288" r:id="rId39"/>
    <p:sldId id="291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33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62055-B13C-4613-83A1-B4299BCABB0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FA6DA-BA71-4DB6-AC18-B52481E91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465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Clarify that each pixel is classified in real time using FPGA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33403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72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16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144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53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9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05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66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87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92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26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37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18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535" y="660400"/>
            <a:ext cx="8026879" cy="1858513"/>
          </a:xfrm>
        </p:spPr>
        <p:txBody>
          <a:bodyPr>
            <a:normAutofit/>
          </a:bodyPr>
          <a:lstStyle/>
          <a:p>
            <a:r>
              <a:rPr lang="en-US" dirty="0"/>
              <a:t>Neural Network </a:t>
            </a:r>
            <a:r>
              <a:rPr dirty="0"/>
              <a:t>for Wildfire Detection</a:t>
            </a:r>
            <a:r>
              <a:rPr lang="en-US" dirty="0"/>
              <a:t>: a hardware design approach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7147" y="2937293"/>
            <a:ext cx="7177177" cy="2669875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Bachelor Thesis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Constantinos Dionysiou</a:t>
            </a:r>
          </a:p>
          <a:p>
            <a:r>
              <a:rPr dirty="0"/>
              <a:t>Cyprus University of Technology</a:t>
            </a:r>
          </a:p>
          <a:p>
            <a:r>
              <a:rPr dirty="0"/>
              <a:t>Department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26567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0186" y="164144"/>
            <a:ext cx="5937755" cy="1188720"/>
          </a:xfrm>
        </p:spPr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0186" y="1616069"/>
            <a:ext cx="6009472" cy="484748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 systems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neural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propagation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</a:p>
          <a:p>
            <a:pPr marL="228600"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Refinement</a:t>
            </a:r>
          </a:p>
          <a:p>
            <a:pPr marL="228600"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2286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</a:p>
          <a:p>
            <a:pPr marL="2286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Fixed-Point and LUT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</a:p>
          <a:p>
            <a:pPr marL="2286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</a:p>
          <a:p>
            <a:pPr marL="2286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2286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228600" lvl="1"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26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4" y="202691"/>
            <a:ext cx="5937755" cy="1188720"/>
          </a:xfrm>
        </p:spPr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1420725"/>
            <a:ext cx="5937755" cy="4444073"/>
          </a:xfrm>
        </p:spPr>
        <p:txBody>
          <a:bodyPr>
            <a:noAutofit/>
          </a:bodyPr>
          <a:lstStyle/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</a:p>
          <a:p>
            <a:pPr marL="447675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Output</a:t>
            </a:r>
          </a:p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implementation</a:t>
            </a:r>
          </a:p>
          <a:p>
            <a:pPr marL="447675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Top-Level Processing Chain</a:t>
            </a:r>
          </a:p>
          <a:p>
            <a:pPr marL="447675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RTL Modules </a:t>
            </a:r>
          </a:p>
          <a:p>
            <a:pPr marL="447675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neuron</a:t>
            </a:r>
          </a:p>
          <a:p>
            <a:pPr marL="447675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Platforms</a:t>
            </a:r>
          </a:p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workflow</a:t>
            </a:r>
          </a:p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VHDL design overview</a:t>
            </a:r>
          </a:p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and Timing</a:t>
            </a:r>
          </a:p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Work</a:t>
            </a:r>
          </a:p>
          <a:p>
            <a:pPr marL="228600" lvl="1" algn="just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28600" lvl="1" algn="just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info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3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FPGA implementation, neural networks, nonlinear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203" y="2581836"/>
            <a:ext cx="7081437" cy="348726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networks (ANNs) are selected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for:</a:t>
            </a:r>
          </a:p>
          <a:p>
            <a:pPr marL="806450" indent="-268288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 -&gt;  analyze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data quickly through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parallelism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FPGAs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(field programmable gate arrays)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nature: 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poorer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than VLSI (Very Large Scale Integration)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circuits 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but possible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change an ANN's features or structure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without rebuilding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circuit.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rapid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cycles and are inherently parallel.</a:t>
            </a:r>
          </a:p>
        </p:txBody>
      </p:sp>
    </p:spTree>
    <p:extLst>
      <p:ext uri="{BB962C8B-B14F-4D97-AF65-F5344CB8AC3E}">
        <p14:creationId xmlns:p14="http://schemas.microsoft.com/office/powerpoint/2010/main" val="2693432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429" y="2568749"/>
            <a:ext cx="7212985" cy="3590004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wildfire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indication: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video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per-pixel classification performed at full video frame rate.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is designed to operate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edge, without relying on cloud infrastructure or GPU (Graphical Processing Unit) acceleration.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with low power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responsive wildfire detection in practical deployments.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998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118" y="4004848"/>
            <a:ext cx="5656729" cy="26066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238551"/>
            <a:ext cx="5937755" cy="1188720"/>
          </a:xfrm>
        </p:spPr>
        <p:txBody>
          <a:bodyPr/>
          <a:lstStyle/>
          <a:p>
            <a:r>
              <a:rPr lang="en-US" dirty="0"/>
              <a:t>What is neural network?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306" y="1568824"/>
            <a:ext cx="79606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are machine learning models composed of interconnected nodes or neurons that process information, identify patterns, and facilitate tasks such as decision-making and pattern recognition.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 are built from several key components:</a:t>
            </a:r>
          </a:p>
          <a:p>
            <a:pPr fontAlgn="base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basic units that receive inputs, each neuron is governed by a threshold and an activation function.</a:t>
            </a:r>
          </a:p>
          <a:p>
            <a:pPr fontAlgn="base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Links between neurons that carry information, regulated by weights and biases.</a:t>
            </a:r>
          </a:p>
          <a:p>
            <a:pPr fontAlgn="base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and Biases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These parameters determine the strength and influence of connections.</a:t>
            </a:r>
          </a:p>
          <a:p>
            <a:pPr fontAlgn="base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 Functions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Mechanisms that help process and transfer data across layers of neurons.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891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918" y="2802871"/>
            <a:ext cx="6200775" cy="3152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129" y="1066801"/>
            <a:ext cx="6786283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  the output y=f(Xi*Wi+b)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Transformation: Inputs are multiplied by the weights connected to each neuron in a layer. After adding a bias to the total, these products are totaled. This can be expressed numerically as: 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1​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1​+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2​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2​+…+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wn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​+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W:represents the weights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 represents the inputs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b: is the bias</a:t>
            </a:r>
          </a:p>
        </p:txBody>
      </p:sp>
    </p:spTree>
    <p:extLst>
      <p:ext uri="{BB962C8B-B14F-4D97-AF65-F5344CB8AC3E}">
        <p14:creationId xmlns:p14="http://schemas.microsoft.com/office/powerpoint/2010/main" val="3154289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47" y="2450726"/>
            <a:ext cx="6915150" cy="2781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4425" y="5413956"/>
            <a:ext cx="76171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Activation: The result of the linear transformation (denoted as z) is then passed through an activation function. The activation function is crucial because it introduces non-linearity into the system, enabling the network to learn more complex patterns. Popular activation functions include ReLU (Rectified Linear Unit) and sigmoid.</a:t>
            </a:r>
          </a:p>
        </p:txBody>
      </p:sp>
    </p:spTree>
    <p:extLst>
      <p:ext uri="{BB962C8B-B14F-4D97-AF65-F5344CB8AC3E}">
        <p14:creationId xmlns:p14="http://schemas.microsoft.com/office/powerpoint/2010/main" val="145934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410" y="2458751"/>
            <a:ext cx="7654496" cy="3101983"/>
          </a:xfrm>
        </p:spPr>
        <p:txBody>
          <a:bodyPr/>
          <a:lstStyle/>
          <a:p>
            <a:r>
              <a:rPr lang="en-US" dirty="0"/>
              <a:t> Input data is fed into the network, passed through hidden </a:t>
            </a:r>
            <a:r>
              <a:rPr lang="en-US" dirty="0" smtClean="0"/>
              <a:t>layers, </a:t>
            </a:r>
            <a:r>
              <a:rPr lang="en-US" dirty="0"/>
              <a:t>and </a:t>
            </a:r>
            <a:r>
              <a:rPr lang="en-US" dirty="0" smtClean="0"/>
              <a:t>the </a:t>
            </a:r>
            <a:r>
              <a:rPr lang="en-US" dirty="0"/>
              <a:t>output layer generates a prediction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Calculate </a:t>
            </a:r>
            <a:r>
              <a:rPr lang="en-US" dirty="0"/>
              <a:t>output values (e.g., classification probabilities) used for </a:t>
            </a:r>
            <a:r>
              <a:rPr lang="en-US" dirty="0" smtClean="0"/>
              <a:t>inference</a:t>
            </a:r>
            <a:endParaRPr lang="en-US" dirty="0"/>
          </a:p>
          <a:p>
            <a:pPr marL="538163" indent="-269875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79388" algn="l"/>
              </a:tabLst>
            </a:pPr>
            <a:r>
              <a:rPr lang="en-US" b="1" dirty="0" smtClean="0"/>
              <a:t>Input: </a:t>
            </a:r>
            <a:r>
              <a:rPr lang="en-US" dirty="0" smtClean="0"/>
              <a:t>Input data </a:t>
            </a:r>
            <a:r>
              <a:rPr lang="en-US" dirty="0"/>
              <a:t>is fed into the input </a:t>
            </a:r>
            <a:r>
              <a:rPr lang="en-US" dirty="0" smtClean="0"/>
              <a:t>layer</a:t>
            </a:r>
          </a:p>
          <a:p>
            <a:pPr marL="538163" indent="-269875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79388" algn="l"/>
              </a:tabLst>
            </a:pPr>
            <a:r>
              <a:rPr lang="en-US" b="1" dirty="0"/>
              <a:t>Hidden </a:t>
            </a:r>
            <a:r>
              <a:rPr lang="en-US" b="1" dirty="0" smtClean="0"/>
              <a:t>Layers: </a:t>
            </a:r>
            <a:r>
              <a:rPr lang="en-US" dirty="0" smtClean="0"/>
              <a:t>Data </a:t>
            </a:r>
            <a:r>
              <a:rPr lang="en-US" dirty="0"/>
              <a:t>is passed through hidden layers</a:t>
            </a:r>
            <a:r>
              <a:rPr lang="en-US" dirty="0" smtClean="0"/>
              <a:t>.</a:t>
            </a:r>
          </a:p>
          <a:p>
            <a:pPr marL="538163" indent="-269875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79388" algn="l"/>
              </a:tabLst>
            </a:pPr>
            <a:r>
              <a:rPr lang="en-US" b="1" dirty="0"/>
              <a:t>Output Layer</a:t>
            </a:r>
            <a:r>
              <a:rPr lang="en-US" b="1" dirty="0" smtClean="0"/>
              <a:t>: </a:t>
            </a:r>
            <a:r>
              <a:rPr lang="en-US" dirty="0" smtClean="0"/>
              <a:t>The </a:t>
            </a:r>
            <a:r>
              <a:rPr lang="en-US" dirty="0"/>
              <a:t>final layer calculates the prediction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48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615" y="480598"/>
            <a:ext cx="5937755" cy="1188720"/>
          </a:xfrm>
        </p:spPr>
        <p:txBody>
          <a:bodyPr/>
          <a:lstStyle/>
          <a:p>
            <a:r>
              <a:rPr lang="en-US" b="1" dirty="0"/>
              <a:t>Backpropagation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586" y="2070847"/>
            <a:ext cx="8175811" cy="44196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forward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propagation:</a:t>
            </a:r>
          </a:p>
          <a:p>
            <a:pPr marL="447675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uses a loss function to quantify the discrepancy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between:</a:t>
            </a:r>
          </a:p>
          <a:p>
            <a:pPr marL="538163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and expected outputs, assessing its performance. </a:t>
            </a:r>
          </a:p>
          <a:p>
            <a:pPr marL="309563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loss is the aim of training.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Calculation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network determines the loss, which gives an indication of the prediction error.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Calculation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network calculates the gradients of the loss function in relation to each network weight and bias.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Update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After the gradients are computed, an optimization procedure such as stochastic gradient descent (SGD) is used to update the weights and biases. </a:t>
            </a:r>
          </a:p>
        </p:txBody>
      </p:sp>
    </p:spTree>
    <p:extLst>
      <p:ext uri="{BB962C8B-B14F-4D97-AF65-F5344CB8AC3E}">
        <p14:creationId xmlns:p14="http://schemas.microsoft.com/office/powerpoint/2010/main" val="2752108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744" y="2638045"/>
            <a:ext cx="6928355" cy="395997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propagation, weight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updating, backpropagation, and loss computation are all repeated numerous times across the dataset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iterative approach gradually lowers the loss and improves the accuracy of the network's predictions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64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can perform better on tasks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like: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by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their parameters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the relationships in the data.</a:t>
            </a:r>
          </a:p>
        </p:txBody>
      </p:sp>
    </p:spTree>
    <p:extLst>
      <p:ext uri="{BB962C8B-B14F-4D97-AF65-F5344CB8AC3E}">
        <p14:creationId xmlns:p14="http://schemas.microsoft.com/office/powerpoint/2010/main" val="2891589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2304" y="2924916"/>
            <a:ext cx="7242802" cy="310198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wildfire indication directly from a live video stream by performing low-latency, low-power per-pixel classification on an FPGA is targeted.        	- wildfires cause severe environmental and economic damage 	 -early detection is essential to minimizing their spread.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cloud-based or GPU-based AI solutions, an FPGA edge implementation can avoid the high latency and power draw that often limit real-time deployment.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240" y="360721"/>
            <a:ext cx="6939520" cy="1645920"/>
          </a:xfrm>
        </p:spPr>
        <p:txBody>
          <a:bodyPr/>
          <a:lstStyle/>
          <a:p>
            <a:r>
              <a:rPr lang="en-US" dirty="0"/>
              <a:t>architecture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842" y="2140524"/>
            <a:ext cx="5101209" cy="12398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used is 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3–7–2 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ayer Perceptron (MLP) in Python for training and then in VHDL for inference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953" y="3350245"/>
            <a:ext cx="4398310" cy="28149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871" y="3110753"/>
            <a:ext cx="36844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MLP: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def __init__(self, in_dim, hidden, out_dim, act="sigmoid"):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rng = np.random.default_rng(42)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self.W1 = rng.normal(0, 0.2, (hidden, in_dim)).astype(np.float32)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self.b1 = np.zeros((hidden,), dtype=np.float32)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self.W2 = rng.normal(0, 0.2, (out_dim, hidden)).astype(np.float32)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self.b2 = np.zeros((out_dim,), dtype=np.float32)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self.act = sigmoid if act == "sigmoid" else relu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def forward(self, x):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h = self.act(x @ self.W1.T + self.b1)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z = h @ self.W2.T + self.b2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z, 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223664"/>
            <a:ext cx="5937755" cy="1188720"/>
          </a:xfrm>
        </p:spPr>
        <p:txBody>
          <a:bodyPr>
            <a:normAutofit/>
          </a:bodyPr>
          <a:lstStyle/>
          <a:p>
            <a:r>
              <a:rPr dirty="0"/>
              <a:t>Neural Network Topology and Quantization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484318" y="2213433"/>
            <a:ext cx="52204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Fixed-point design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Inputs: 8-bit RGB (0..255) normalized in integer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Weights/bias: signed ints (exported from Python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Activation: 12-bit address -&gt; 8-bit output ROM (sigmoid 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ook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able - LUT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Total params: 44 ints (3x7 + 7 bias + 7x2 + 2 bias)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25" y="1636047"/>
            <a:ext cx="2977622" cy="42940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Fixed-Point and LUT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Weights/bias quantized to integers, packed in VHDL arrays</a:t>
            </a:r>
          </a:p>
          <a:p>
            <a:pPr>
              <a:lnSpc>
                <a:spcPct val="3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implemented as ROM (12-bit address)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3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 pipeline: parallel multipliers + accumulator + LUT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and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wildfire images + segmentation masks (where available)</a:t>
            </a:r>
          </a:p>
          <a:p>
            <a:pPr lvl="1"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Per-image random pixel sampling; balanced pos/neg when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 exists</a:t>
            </a:r>
          </a:p>
          <a:p>
            <a:pPr lvl="1"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raw RGB (8-bit each); Labels: fire vs not-fire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214194"/>
            <a:ext cx="5937755" cy="1188720"/>
          </a:xfrm>
        </p:spPr>
        <p:txBody>
          <a:bodyPr/>
          <a:lstStyle/>
          <a:p>
            <a:r>
              <a:rPr dirty="0"/>
              <a:t>Dataset Examples</a:t>
            </a:r>
          </a:p>
        </p:txBody>
      </p:sp>
      <p:pic>
        <p:nvPicPr>
          <p:cNvPr id="3" name="Picture 2" descr="Img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72" y="1709756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365" y="6435306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Fire</a:t>
            </a:r>
          </a:p>
        </p:txBody>
      </p:sp>
      <p:pic>
        <p:nvPicPr>
          <p:cNvPr id="5" name="Picture 4" descr="Img_104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452" y="1709756"/>
            <a:ext cx="47548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66360" y="64195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Not Fire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evaluation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00702"/>
            <a:ext cx="3657298" cy="36572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00702"/>
            <a:ext cx="4571622" cy="365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425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274409"/>
            <a:ext cx="5937755" cy="1188720"/>
          </a:xfrm>
        </p:spPr>
        <p:txBody>
          <a:bodyPr/>
          <a:lstStyle/>
          <a:p>
            <a:r>
              <a:rPr dirty="0" smtClean="0"/>
              <a:t>Simulation</a:t>
            </a:r>
            <a:endParaRPr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" y="1714500"/>
            <a:ext cx="9144000" cy="514350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>
            <a:off x="4171950" y="1833563"/>
            <a:ext cx="457200" cy="642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36822" y="1651472"/>
            <a:ext cx="4627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endParaRPr lang="en-US" sz="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19800" y="2919413"/>
            <a:ext cx="428625" cy="247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400675" y="1882304"/>
            <a:ext cx="619125" cy="1045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89272" y="1695443"/>
            <a:ext cx="697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RGB input</a:t>
            </a:r>
            <a:endParaRPr lang="en-US" sz="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48425" y="3418434"/>
            <a:ext cx="328613" cy="2392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Arrow Connector 25"/>
          <p:cNvCxnSpPr>
            <a:stCxn id="27" idx="2"/>
          </p:cNvCxnSpPr>
          <p:nvPr/>
        </p:nvCxnSpPr>
        <p:spPr>
          <a:xfrm flipH="1">
            <a:off x="6515101" y="1909764"/>
            <a:ext cx="254412" cy="1508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20930" y="1694320"/>
            <a:ext cx="697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RGB output</a:t>
            </a:r>
            <a:endParaRPr lang="en-US" sz="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076701" y="2676451"/>
            <a:ext cx="152400" cy="251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3548063" y="1833563"/>
            <a:ext cx="528638" cy="842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038476" y="1666860"/>
            <a:ext cx="11525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rgbClr val="FF0000"/>
                </a:solidFill>
              </a:rPr>
              <a:t>Sync/valid signals</a:t>
            </a:r>
            <a:endParaRPr lang="en-US" sz="800" dirty="0">
              <a:solidFill>
                <a:srgbClr val="FF0000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4476750" y="6353176"/>
            <a:ext cx="504825" cy="195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24413" y="6157913"/>
            <a:ext cx="1371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Brake at line 164</a:t>
            </a:r>
            <a:endParaRPr lang="en-US" sz="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991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534386"/>
            <a:ext cx="5937755" cy="1188720"/>
          </a:xfrm>
        </p:spPr>
        <p:txBody>
          <a:bodyPr/>
          <a:lstStyle/>
          <a:p>
            <a:r>
              <a:rPr dirty="0" smtClean="0"/>
              <a:t>Simulation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1975876"/>
            <a:ext cx="4229381" cy="4681376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2814919" y="3316941"/>
            <a:ext cx="2761128" cy="2043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90564" y="2965538"/>
            <a:ext cx="294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completed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537012" y="3971364"/>
            <a:ext cx="3039035" cy="869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76047" y="3686273"/>
            <a:ext cx="323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Closing output file as .ppm format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Simulation Output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678"/>
          <a:stretch/>
        </p:blipFill>
        <p:spPr>
          <a:xfrm>
            <a:off x="923365" y="2319743"/>
            <a:ext cx="5190989" cy="34883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8921" y="597860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Offline accuracy on held-out pixels 79.7% (val split 20%)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388" y="2319743"/>
            <a:ext cx="3503685" cy="348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8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5276" y="2422893"/>
            <a:ext cx="6119291" cy="34489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training is completed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</a:p>
          <a:p>
            <a:pPr marL="806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are exported as a table where the values are inserted later as fixed values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VHDL.</a:t>
            </a:r>
          </a:p>
          <a:p>
            <a:pPr marL="8064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does not change, it is just implemented in hardware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16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3705" y="640968"/>
            <a:ext cx="5937755" cy="1188720"/>
          </a:xfrm>
        </p:spPr>
        <p:txBody>
          <a:bodyPr/>
          <a:lstStyle/>
          <a:p>
            <a:r>
              <a:rPr dirty="0"/>
              <a:t>FPGA Top-Level Processing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1940" y="1951991"/>
            <a:ext cx="2011680" cy="914400"/>
          </a:xfrm>
          <a:prstGeom prst="roundRect">
            <a:avLst/>
          </a:prstGeom>
          <a:solidFill>
            <a:srgbClr val="5555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Video Rx</a:t>
            </a:r>
          </a:p>
          <a:p>
            <a:r>
              <a:rPr dirty="0"/>
              <a:t>PCLK, HS/VS/DE</a:t>
            </a:r>
          </a:p>
          <a:p>
            <a:r>
              <a:rPr dirty="0"/>
              <a:t>RGB888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39253" y="2025142"/>
            <a:ext cx="2011680" cy="914400"/>
          </a:xfrm>
          <a:prstGeom prst="roundRect">
            <a:avLst/>
          </a:prstGeom>
          <a:solidFill>
            <a:srgbClr val="3377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Pre-Scale /</a:t>
            </a:r>
          </a:p>
          <a:p>
            <a:r>
              <a:rPr dirty="0"/>
              <a:t>Clamp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71060" y="2564449"/>
            <a:ext cx="2011680" cy="914400"/>
          </a:xfrm>
          <a:prstGeom prst="roundRect">
            <a:avLst/>
          </a:prstGeom>
          <a:solidFill>
            <a:srgbClr val="148F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MLP 3–7–2</a:t>
            </a:r>
          </a:p>
          <a:p>
            <a:r>
              <a:rPr dirty="0"/>
              <a:t>fixed-point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65620" y="3134996"/>
            <a:ext cx="2011680" cy="914400"/>
          </a:xfrm>
          <a:prstGeom prst="roundRect">
            <a:avLst/>
          </a:prstGeom>
          <a:solidFill>
            <a:srgbClr val="90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Sigmoid LUT</a:t>
            </a:r>
          </a:p>
          <a:p>
            <a:r>
              <a:rPr dirty="0"/>
              <a:t>ROM 4k×8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15510" y="3880328"/>
            <a:ext cx="2011680" cy="914400"/>
          </a:xfrm>
          <a:prstGeom prst="roundRect">
            <a:avLst/>
          </a:prstGeom>
          <a:solidFill>
            <a:srgbClr val="AA66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Classify /</a:t>
            </a:r>
          </a:p>
          <a:p>
            <a:r>
              <a:rPr dirty="0"/>
              <a:t>Overlay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6500" y="4153695"/>
            <a:ext cx="2011680" cy="914400"/>
          </a:xfrm>
          <a:prstGeom prst="roundRect">
            <a:avLst/>
          </a:prstGeom>
          <a:solidFill>
            <a:srgbClr val="5555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Video Tx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4944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33856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4140" y="5580380"/>
            <a:ext cx="9222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Data path: per-pixel inference at pixel clock. One-cycle ROM latency. Pipelined MACs in neuron array.</a:t>
            </a:r>
          </a:p>
        </p:txBody>
      </p:sp>
      <p:sp>
        <p:nvSpPr>
          <p:cNvPr id="17" name="Circular Arrow 16"/>
          <p:cNvSpPr/>
          <p:nvPr/>
        </p:nvSpPr>
        <p:spPr>
          <a:xfrm>
            <a:off x="1965063" y="1673907"/>
            <a:ext cx="887506" cy="89054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Circular Arrow 17"/>
          <p:cNvSpPr/>
          <p:nvPr/>
        </p:nvSpPr>
        <p:spPr>
          <a:xfrm rot="1809532">
            <a:off x="4311127" y="1963920"/>
            <a:ext cx="887506" cy="89054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Circular Arrow 18"/>
          <p:cNvSpPr/>
          <p:nvPr/>
        </p:nvSpPr>
        <p:spPr>
          <a:xfrm rot="2394062">
            <a:off x="6283438" y="2553820"/>
            <a:ext cx="887506" cy="89054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Circular Arrow 19"/>
          <p:cNvSpPr/>
          <p:nvPr/>
        </p:nvSpPr>
        <p:spPr>
          <a:xfrm rot="8322091">
            <a:off x="6418211" y="3759846"/>
            <a:ext cx="887506" cy="89054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 rot="9619626">
            <a:off x="4158092" y="4264501"/>
            <a:ext cx="887506" cy="89054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RTL Modules (nn_rgb.vhd)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control.vhd: sync/enable, pipeline alignment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neuron.vhd: MAC tree per neuron with final bias add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multiplier.vhd: per-input multiply (inferred DSP)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sigmoid_IP.vhd: ROM-based LUT (Xilinx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/ Intel M9K)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4" y="274409"/>
            <a:ext cx="5937755" cy="1188720"/>
          </a:xfrm>
        </p:spPr>
        <p:txBody>
          <a:bodyPr/>
          <a:lstStyle/>
          <a:p>
            <a:r>
              <a:rPr lang="en-US" dirty="0"/>
              <a:t>The neuron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2" b="66405"/>
          <a:stretch/>
        </p:blipFill>
        <p:spPr>
          <a:xfrm>
            <a:off x="408332" y="1577788"/>
            <a:ext cx="4988422" cy="4682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68471" y="2052917"/>
            <a:ext cx="3191435" cy="3372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neuron takes the X inputs, multiplies them by the corresponding weights, and then adds them all up, including a bias value.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goes into the activation function component, which is created as a ROM.</a:t>
            </a:r>
          </a:p>
        </p:txBody>
      </p:sp>
    </p:spTree>
    <p:extLst>
      <p:ext uri="{BB962C8B-B14F-4D97-AF65-F5344CB8AC3E}">
        <p14:creationId xmlns:p14="http://schemas.microsoft.com/office/powerpoint/2010/main" val="2911960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Hardware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Xilinx ML501 (Virtex-5): DVI Rx/Tx available, JTAG/SystemACE config</a:t>
            </a:r>
          </a:p>
          <a:p>
            <a:pPr>
              <a:lnSpc>
                <a:spcPct val="20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Cyclone V path exists (Quartus 13.0 SP1), no native video Rx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Zynq ultrascale + MPSoCs (only on vivado)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is vendor-neutral except sigmoid ROM wrapper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370332"/>
            <a:ext cx="5937755" cy="1188720"/>
          </a:xfrm>
        </p:spPr>
        <p:txBody>
          <a:bodyPr/>
          <a:lstStyle/>
          <a:p>
            <a:r>
              <a:rPr lang="en-US" dirty="0"/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59504"/>
            <a:ext cx="6820779" cy="3664143"/>
          </a:xfrm>
        </p:spPr>
        <p:txBody>
          <a:bodyPr>
            <a:noAutofit/>
          </a:bodyPr>
          <a:lstStyle/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training (Python)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wildfire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(image and mask folders).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MLP and produce floating-point weights/biases using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train_mlp.py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Quantize to fixed-point and export artifacts using:</a:t>
            </a:r>
          </a:p>
          <a:p>
            <a:pPr lvl="2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export_fixedpoint.py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converts trained tensors to fixed-point.</a:t>
            </a:r>
          </a:p>
          <a:p>
            <a:pPr lvl="2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gen_sigmoid_lut.py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generates activation LUT samples.</a:t>
            </a:r>
          </a:p>
          <a:p>
            <a:pPr lvl="2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export_to_xilinx.py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writes COE and optionally a VHDL package.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 drives sizes/bitwidths via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config.yaml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Fixed-point arrays in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artifacts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3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weights_layer1.txt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bias_layer1.txt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weights_layer2.txt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bias_layer2.txt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activation_lut.txt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 rotWithShape="1">
          <a:blip r:embed="rId3"/>
          <a:srcRect b="14987"/>
          <a:stretch/>
        </p:blipFill>
        <p:spPr bwMode="auto">
          <a:xfrm>
            <a:off x="5510176" y="1460440"/>
            <a:ext cx="3633824" cy="52989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3745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963" y="522374"/>
            <a:ext cx="8031013" cy="6012897"/>
          </a:xfrm>
        </p:spPr>
        <p:txBody>
          <a:bodyPr>
            <a:normAutofit/>
          </a:bodyPr>
          <a:lstStyle/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validation (Python)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evaluate_and_plot.py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we test vectors in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testvectors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RTL simulation (ModelSim/Questa)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file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sim.mpf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compiles the same VHDL sources used by Vivado. It also contains references to stimulus/response images: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image_stimuli.ppm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image_response.ppm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and implementation (Vivado 24.1.2, ZCU106)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side (how parameters become hardware-initialized constants)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Weights/Biases: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as text files in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artifacts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are typically converted to either a VHDL package with constant arrays or to additional ROM initializations. </a:t>
            </a:r>
          </a:p>
        </p:txBody>
      </p:sp>
    </p:spTree>
    <p:extLst>
      <p:ext uri="{BB962C8B-B14F-4D97-AF65-F5344CB8AC3E}">
        <p14:creationId xmlns:p14="http://schemas.microsoft.com/office/powerpoint/2010/main" val="4003598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3" y="958687"/>
            <a:ext cx="5937755" cy="1188720"/>
          </a:xfrm>
        </p:spPr>
        <p:txBody>
          <a:bodyPr/>
          <a:lstStyle/>
          <a:p>
            <a:r>
              <a:rPr lang="en-US" dirty="0"/>
              <a:t>VHDL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6248" y="2586677"/>
            <a:ext cx="6677344" cy="3101983"/>
          </a:xfrm>
        </p:spPr>
        <p:txBody>
          <a:bodyPr>
            <a:noAutofit/>
          </a:bodyPr>
          <a:lstStyle/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files: </a:t>
            </a: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VHDL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nn_rgb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FSM: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control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blocks: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neuron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multiplier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sigmoid_lut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Configuration/constants: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config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Simulation/test: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sim_nn_rgb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tb_nn_rgb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892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VHDL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path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Pixels (RGB) or features are ingested by 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nn_rgb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1: parallel MACs using 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multiplier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accumulate weighted sums inside 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neuron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add bias, then apply activation via 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sigmoid_IP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which internally uses a ROM 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sigmoid_lut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repeats MAC + activation to produce output probability(ies).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088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925586"/>
            <a:ext cx="5937755" cy="1188720"/>
          </a:xfrm>
        </p:spPr>
        <p:txBody>
          <a:bodyPr/>
          <a:lstStyle/>
          <a:p>
            <a:r>
              <a:rPr dirty="0"/>
              <a:t>Resource and Timing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751168"/>
              </p:ext>
            </p:extLst>
          </p:nvPr>
        </p:nvGraphicFramePr>
        <p:xfrm>
          <a:off x="361510" y="2772505"/>
          <a:ext cx="8426824" cy="3552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9">
                  <a:extLst>
                    <a:ext uri="{9D8B030D-6E8A-4147-A177-3AD203B41FA5}">
                      <a16:colId xmlns:a16="http://schemas.microsoft.com/office/drawing/2014/main" val="2160701451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3202040930"/>
                    </a:ext>
                  </a:extLst>
                </a:gridCol>
                <a:gridCol w="968189">
                  <a:extLst>
                    <a:ext uri="{9D8B030D-6E8A-4147-A177-3AD203B41FA5}">
                      <a16:colId xmlns:a16="http://schemas.microsoft.com/office/drawing/2014/main" val="2819133894"/>
                    </a:ext>
                  </a:extLst>
                </a:gridCol>
                <a:gridCol w="1614927">
                  <a:extLst>
                    <a:ext uri="{9D8B030D-6E8A-4147-A177-3AD203B41FA5}">
                      <a16:colId xmlns:a16="http://schemas.microsoft.com/office/drawing/2014/main" val="1512091898"/>
                    </a:ext>
                  </a:extLst>
                </a:gridCol>
                <a:gridCol w="1594437">
                  <a:extLst>
                    <a:ext uri="{9D8B030D-6E8A-4147-A177-3AD203B41FA5}">
                      <a16:colId xmlns:a16="http://schemas.microsoft.com/office/drawing/2014/main" val="1876332834"/>
                    </a:ext>
                  </a:extLst>
                </a:gridCol>
                <a:gridCol w="813227">
                  <a:extLst>
                    <a:ext uri="{9D8B030D-6E8A-4147-A177-3AD203B41FA5}">
                      <a16:colId xmlns:a16="http://schemas.microsoft.com/office/drawing/2014/main" val="3494988610"/>
                    </a:ext>
                  </a:extLst>
                </a:gridCol>
                <a:gridCol w="1203832">
                  <a:extLst>
                    <a:ext uri="{9D8B030D-6E8A-4147-A177-3AD203B41FA5}">
                      <a16:colId xmlns:a16="http://schemas.microsoft.com/office/drawing/2014/main" val="3519566896"/>
                    </a:ext>
                  </a:extLst>
                </a:gridCol>
              </a:tblGrid>
              <a:tr h="114001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 (MHz)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Area (LUT)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Throughput (Gbps)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Throughput/area (Gbps/kLUT)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Slice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427603"/>
                  </a:ext>
                </a:extLst>
              </a:tr>
              <a:tr h="804175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ZCU106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Y"/>
                        <a:t>74.25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Y"/>
                        <a:t>4850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Y"/>
                        <a:t>1.782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Y"/>
                        <a:t>0.367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Y"/>
                        <a:t>≈304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Y" dirty="0"/>
                        <a:t>≈607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657113"/>
                  </a:ext>
                </a:extLst>
              </a:tr>
              <a:tr h="804175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C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C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C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C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C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C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531628"/>
                  </a:ext>
                </a:extLst>
              </a:tr>
              <a:tr h="804175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C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C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C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C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C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C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5934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704715"/>
            <a:ext cx="5937755" cy="1188720"/>
          </a:xfrm>
        </p:spPr>
        <p:txBody>
          <a:bodyPr/>
          <a:lstStyle/>
          <a:p>
            <a:r>
              <a:rPr dirty="0"/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075" y="2196353"/>
            <a:ext cx="7951694" cy="39624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inference on a single device without software is limited, despite the flexibility and inheritance of parallelism on FPGAs.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 modules and data chain can be implemented in terms of area and resource usage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 pattern recognition is effective, more work is required to expand the architecture or add convolution layers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feature selection might benefit from greater research since more variables can address issues in real time during a wildfire.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4" y="408880"/>
            <a:ext cx="5937755" cy="1188720"/>
          </a:xfrm>
        </p:spPr>
        <p:txBody>
          <a:bodyPr/>
          <a:lstStyle/>
          <a:p>
            <a:r>
              <a:rPr dirty="0" smtClean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245" y="1938799"/>
            <a:ext cx="7913354" cy="4524754"/>
          </a:xfrm>
        </p:spPr>
        <p:txBody>
          <a:bodyPr>
            <a:normAutofit/>
          </a:bodyPr>
          <a:lstStyle/>
          <a:p>
            <a:r>
              <a:rPr lang="en-US" dirty="0"/>
              <a:t>This project's goal was to create a VHDL model of an </a:t>
            </a:r>
            <a:r>
              <a:rPr lang="en-US" dirty="0" smtClean="0"/>
              <a:t>ANN for: </a:t>
            </a:r>
          </a:p>
          <a:p>
            <a:pPr marL="447675">
              <a:buFont typeface="Wingdings" panose="05000000000000000000" pitchFamily="2" charset="2"/>
              <a:buChar char="Ø"/>
            </a:pPr>
            <a:r>
              <a:rPr lang="en-US" dirty="0" smtClean="0"/>
              <a:t>determining </a:t>
            </a:r>
            <a:r>
              <a:rPr lang="en-US" dirty="0"/>
              <a:t>the system's </a:t>
            </a:r>
            <a:r>
              <a:rPr lang="en-US" dirty="0" smtClean="0"/>
              <a:t>functions</a:t>
            </a:r>
          </a:p>
          <a:p>
            <a:pPr marL="219075" indent="0">
              <a:buNone/>
            </a:pPr>
            <a:endParaRPr lang="en-US" dirty="0"/>
          </a:p>
          <a:p>
            <a:r>
              <a:rPr lang="en-US" dirty="0"/>
              <a:t>The modules' timing behavior and functioning were properly confirmed.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Using </a:t>
            </a:r>
            <a:r>
              <a:rPr lang="en-US" dirty="0"/>
              <a:t>FPGA, we take advantage of the high speeds achievable using </a:t>
            </a:r>
            <a:r>
              <a:rPr lang="en-US" dirty="0" smtClean="0"/>
              <a:t>hardware:</a:t>
            </a:r>
          </a:p>
          <a:p>
            <a:pPr marL="447675">
              <a:buFont typeface="Wingdings" panose="05000000000000000000" pitchFamily="2" charset="2"/>
              <a:buChar char="Ø"/>
            </a:pPr>
            <a:r>
              <a:rPr lang="en-US" dirty="0" smtClean="0"/>
              <a:t>as </a:t>
            </a:r>
            <a:r>
              <a:rPr lang="en-US" dirty="0"/>
              <a:t>a result, it is a beneficial and economic investment for designs requiring artificial Neural Networks</a:t>
            </a:r>
            <a:r>
              <a:rPr lang="en-US" dirty="0" smtClean="0"/>
              <a:t>.</a:t>
            </a:r>
          </a:p>
          <a:p>
            <a:pPr marL="447675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>In conclusion, this work demonstrates that low-latency wildfire indication on an FPGA is feasible and efficient.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220622"/>
            <a:ext cx="5937755" cy="1188720"/>
          </a:xfrm>
        </p:spPr>
        <p:txBody>
          <a:bodyPr/>
          <a:lstStyle/>
          <a:p>
            <a:r>
              <a:rPr lang="en-US" dirty="0" smtClean="0"/>
              <a:t>bibliography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50895"/>
            <a:ext cx="8749553" cy="5208494"/>
          </a:xfrm>
        </p:spPr>
        <p:txBody>
          <a:bodyPr>
            <a:normAutofit fontScale="40000" lnSpcReduction="20000"/>
          </a:bodyPr>
          <a:lstStyle/>
          <a:p>
            <a:r>
              <a:rPr lang="en-US" sz="2000" dirty="0"/>
              <a:t> </a:t>
            </a:r>
          </a:p>
          <a:p>
            <a:r>
              <a:rPr lang="en-US" sz="2000" dirty="0" smtClean="0"/>
              <a:t>M</a:t>
            </a:r>
            <a:r>
              <a:rPr lang="en-US" sz="2000" dirty="0"/>
              <a:t>. A. </a:t>
            </a:r>
            <a:r>
              <a:rPr lang="en-US" sz="2000" dirty="0" err="1"/>
              <a:t>Alsharif</a:t>
            </a:r>
            <a:r>
              <a:rPr lang="en-US" sz="2000" dirty="0"/>
              <a:t> et al., “Deep Learning Approaches for Wildland Fires Using Satellite Remote Sensing Data: Detection, Mapping, and Prediction,” Fire, vol. 6, no. 5, p. 192, 2023. Available: https://www.mdpi.com/2571-6255/6/5/192</a:t>
            </a:r>
          </a:p>
          <a:p>
            <a:r>
              <a:rPr lang="en-US" sz="2000" dirty="0" smtClean="0"/>
              <a:t>A</a:t>
            </a:r>
            <a:r>
              <a:rPr lang="en-US" sz="2000" dirty="0"/>
              <a:t>. </a:t>
            </a:r>
            <a:r>
              <a:rPr lang="en-US" sz="2000" dirty="0" err="1"/>
              <a:t>Filizzola</a:t>
            </a:r>
            <a:r>
              <a:rPr lang="en-US" sz="2000" dirty="0"/>
              <a:t> et al., “Wildfire Detection Using Convolutional Neural Networks and PRISMA Hyperspectral Imagery: A Spatial-Spectral Analysis,” Remote Sensing, vol. 15, no. 19, 2023. Available: https://www.mdpi.com/2072-4292/15/19/4855</a:t>
            </a:r>
          </a:p>
          <a:p>
            <a:r>
              <a:rPr lang="en-US" sz="2000" dirty="0" smtClean="0"/>
              <a:t>T</a:t>
            </a:r>
            <a:r>
              <a:rPr lang="en-US" sz="2000" dirty="0"/>
              <a:t>. </a:t>
            </a:r>
            <a:r>
              <a:rPr lang="en-US" sz="2000" dirty="0" err="1"/>
              <a:t>Celik</a:t>
            </a:r>
            <a:r>
              <a:rPr lang="en-US" sz="2000" dirty="0"/>
              <a:t> and H. </a:t>
            </a:r>
            <a:r>
              <a:rPr lang="en-US" sz="2000" dirty="0" err="1"/>
              <a:t>Demirel</a:t>
            </a:r>
            <a:r>
              <a:rPr lang="en-US" sz="2000" dirty="0"/>
              <a:t>, “Computer vision based method for real-time fire and flame detection,” Expert Systems with Applications, vol. 36, no. 2, 2009. Available: https://research.itu.edu.tr/en/publications/computer-vision-based-method-for-real-time-fire-and-flame-detecti/</a:t>
            </a:r>
          </a:p>
          <a:p>
            <a:r>
              <a:rPr lang="en-US" sz="2000" dirty="0" smtClean="0"/>
              <a:t>A</a:t>
            </a:r>
            <a:r>
              <a:rPr lang="en-US" sz="2000" dirty="0"/>
              <a:t>. </a:t>
            </a:r>
            <a:r>
              <a:rPr lang="en-US" sz="2000" dirty="0" err="1"/>
              <a:t>Alsharif</a:t>
            </a:r>
            <a:r>
              <a:rPr lang="en-US" sz="2000" dirty="0"/>
              <a:t> et al., “AI-based Wildfire Prevention, Detection and Suppression System,” </a:t>
            </a:r>
            <a:r>
              <a:rPr lang="en-US" sz="2000" dirty="0" err="1"/>
              <a:t>arXiv</a:t>
            </a:r>
            <a:r>
              <a:rPr lang="en-US" sz="2000" dirty="0"/>
              <a:t> preprint arXiv:2312.06990, 2023. Available: https://arxiv.org/abs/2312.06990</a:t>
            </a:r>
          </a:p>
          <a:p>
            <a:r>
              <a:rPr lang="en-US" sz="2000" dirty="0" smtClean="0"/>
              <a:t>S</a:t>
            </a:r>
            <a:r>
              <a:rPr lang="en-US" sz="2000" dirty="0"/>
              <a:t>. </a:t>
            </a:r>
            <a:r>
              <a:rPr lang="en-US" sz="2000" dirty="0" err="1"/>
              <a:t>Himavathi</a:t>
            </a:r>
            <a:r>
              <a:rPr lang="en-US" sz="2000" dirty="0"/>
              <a:t>, D. </a:t>
            </a:r>
            <a:r>
              <a:rPr lang="en-US" sz="2000" dirty="0" err="1"/>
              <a:t>Anitha</a:t>
            </a:r>
            <a:r>
              <a:rPr lang="en-US" sz="2000" dirty="0"/>
              <a:t>, and A. </a:t>
            </a:r>
            <a:r>
              <a:rPr lang="en-US" sz="2000" dirty="0" err="1"/>
              <a:t>Muthuramalingam</a:t>
            </a:r>
            <a:r>
              <a:rPr lang="en-US" sz="2000" dirty="0"/>
              <a:t>, “FPGA implementation of a multilayer perceptron neural network using VHDL,” in Proc. IEEE, 2007. Available: https://ieeexplore.ieee.org/document/770860</a:t>
            </a:r>
          </a:p>
          <a:p>
            <a:r>
              <a:rPr lang="en-US" sz="2000" dirty="0" smtClean="0"/>
              <a:t>Y</a:t>
            </a:r>
            <a:r>
              <a:rPr lang="en-US" sz="2000" dirty="0"/>
              <a:t>. </a:t>
            </a:r>
            <a:r>
              <a:rPr lang="en-US" sz="2000" dirty="0" err="1"/>
              <a:t>Umuroglu</a:t>
            </a:r>
            <a:r>
              <a:rPr lang="en-US" sz="2000" dirty="0"/>
              <a:t> et al., “Accelerating </a:t>
            </a:r>
            <a:r>
              <a:rPr lang="en-US" sz="2000" dirty="0" err="1"/>
              <a:t>Binarized</a:t>
            </a:r>
            <a:r>
              <a:rPr lang="en-US" sz="2000" dirty="0"/>
              <a:t> Neural Networks: Comparison of FPGA, CPU, GPU, and ASIC,” in Proc. IEEE FCCM, 2017. Available: https://ieeexplore.ieee.org/document/7929192</a:t>
            </a:r>
          </a:p>
          <a:p>
            <a:r>
              <a:rPr lang="en-US" sz="2000" dirty="0" smtClean="0"/>
              <a:t>R</a:t>
            </a:r>
            <a:r>
              <a:rPr lang="en-US" sz="2000" dirty="0"/>
              <a:t>. Zhao et al., “Accelerating </a:t>
            </a:r>
            <a:r>
              <a:rPr lang="en-US" sz="2000" dirty="0" err="1"/>
              <a:t>Binarized</a:t>
            </a:r>
            <a:r>
              <a:rPr lang="en-US" sz="2000" dirty="0"/>
              <a:t> Convolutional Neural Networks with Software-Programmable FPGAs,” in Proc. ACM/SIGDA FPGA, 2017. Available: https://rzhao01.github.io/publication/bnn_fpga2017/</a:t>
            </a:r>
          </a:p>
          <a:p>
            <a:r>
              <a:rPr lang="en-US" sz="2000" dirty="0" smtClean="0"/>
              <a:t>M</a:t>
            </a:r>
            <a:r>
              <a:rPr lang="en-US" sz="2000" dirty="0"/>
              <a:t>. </a:t>
            </a:r>
            <a:r>
              <a:rPr lang="en-US" sz="2000" dirty="0" err="1"/>
              <a:t>Courbariaux</a:t>
            </a:r>
            <a:r>
              <a:rPr lang="en-US" sz="2000" dirty="0"/>
              <a:t> and Y. </a:t>
            </a:r>
            <a:r>
              <a:rPr lang="en-US" sz="2000" dirty="0" err="1"/>
              <a:t>Bengio</a:t>
            </a:r>
            <a:r>
              <a:rPr lang="en-US" sz="2000" dirty="0"/>
              <a:t>, “Binary Networks on FPGAs,” 2016. Available: https://arxiv.org/abs/1602.02830</a:t>
            </a:r>
          </a:p>
          <a:p>
            <a:r>
              <a:rPr lang="en-US" sz="2000" dirty="0" smtClean="0"/>
              <a:t>A</a:t>
            </a:r>
            <a:r>
              <a:rPr lang="en-US" sz="2000" dirty="0"/>
              <a:t>. Kumar et al., “Modeling of adaptive artificial neural networks using VHDL,” IJERT, vol. 3, no. 4, 2014. Available: https://www.ijert.org/modeling-of-adaptive-artificial-neural-networks-using-vhdl-is-more-appropriate-using-bipolar-inputs</a:t>
            </a:r>
          </a:p>
          <a:p>
            <a:r>
              <a:rPr lang="en-US" sz="2000" dirty="0" smtClean="0"/>
              <a:t>M</a:t>
            </a:r>
            <a:r>
              <a:rPr lang="en-US" sz="2000" dirty="0"/>
              <a:t>. A. Rahman et al., “Hardware implementation of backpropagation neural networks,” 2015. Available: https://www.scirp.org/html/21-1730136_47097.htm</a:t>
            </a:r>
          </a:p>
          <a:p>
            <a:r>
              <a:rPr lang="en-US" sz="2000" dirty="0" smtClean="0"/>
              <a:t>M</a:t>
            </a:r>
            <a:r>
              <a:rPr lang="en-US" sz="2000" dirty="0"/>
              <a:t>. H. </a:t>
            </a:r>
            <a:r>
              <a:rPr lang="en-US" sz="2000" dirty="0" err="1"/>
              <a:t>Hamdan</a:t>
            </a:r>
            <a:r>
              <a:rPr lang="en-US" sz="2000" dirty="0"/>
              <a:t>, FPGA Architecture for Deep Learning and Its Application to Planetary Robotics, Iowa State University, 2017. Available: https://lib.dr.iastate.edu/etd/15874/</a:t>
            </a:r>
          </a:p>
          <a:p>
            <a:r>
              <a:rPr lang="en-US" sz="2000" dirty="0" smtClean="0"/>
              <a:t>P</a:t>
            </a:r>
            <a:r>
              <a:rPr lang="en-US" sz="2000" dirty="0"/>
              <a:t>. Roth, Digital Systems Design Using VHDL, McGraw-Hill, 2007. Available: https://www.mheducation.com/highered/product/digital-systems-design-using-vhdl-roth/M9780073529540.html</a:t>
            </a:r>
          </a:p>
          <a:p>
            <a:r>
              <a:rPr lang="en-US" sz="2000" dirty="0" smtClean="0"/>
              <a:t>A</a:t>
            </a:r>
            <a:r>
              <a:rPr lang="en-US" sz="2000" dirty="0"/>
              <a:t>. A. Khan et al., “Implementation of a feed-forward artificial neural network in VHDL on FPGA,” 2018. Available: https://www.researchgate.net/publication/328370577_Implementation_of_a_feed-forward_Artificial_Neural_Network_in_VHDL_on_FPGA</a:t>
            </a:r>
          </a:p>
          <a:p>
            <a:r>
              <a:rPr lang="en-US" sz="2000" dirty="0" smtClean="0"/>
              <a:t>IEEE</a:t>
            </a:r>
            <a:r>
              <a:rPr lang="en-US" sz="2000" dirty="0"/>
              <a:t>, “RT 2020 Conference Proceedings,” 2020. Available: https://ieeexplore.ieee.org/</a:t>
            </a:r>
          </a:p>
          <a:p>
            <a:r>
              <a:rPr lang="en-US" sz="2000" dirty="0" smtClean="0"/>
              <a:t>K</a:t>
            </a:r>
            <a:r>
              <a:rPr lang="en-US" sz="2000" dirty="0"/>
              <a:t>. Kara, D. </a:t>
            </a:r>
            <a:r>
              <a:rPr lang="en-US" sz="2000" dirty="0" err="1"/>
              <a:t>Alistarh</a:t>
            </a:r>
            <a:r>
              <a:rPr lang="en-US" sz="2000" dirty="0"/>
              <a:t>, G. Alonso, O. </a:t>
            </a:r>
            <a:r>
              <a:rPr lang="en-US" sz="2000" dirty="0" err="1"/>
              <a:t>Mutlu</a:t>
            </a:r>
            <a:r>
              <a:rPr lang="en-US" sz="2000" dirty="0"/>
              <a:t>, and C. Zhang, “FPGA-accelerated dense linear machine learning: A precision–convergence trade-off,” in </a:t>
            </a:r>
            <a:r>
              <a:rPr lang="en-US" sz="2000" i="1" dirty="0"/>
              <a:t>Proc. IEEE Int. </a:t>
            </a:r>
            <a:r>
              <a:rPr lang="en-US" sz="2000" i="1" dirty="0" err="1"/>
              <a:t>Symp</a:t>
            </a:r>
            <a:r>
              <a:rPr lang="en-US" sz="2000" i="1" dirty="0"/>
              <a:t>. Field-Programmable Custom Computing Machines (FCCM)</a:t>
            </a:r>
            <a:r>
              <a:rPr lang="en-US" sz="2000" dirty="0"/>
              <a:t>, 2017.</a:t>
            </a:r>
          </a:p>
          <a:p>
            <a:r>
              <a:rPr lang="en-US" sz="2000" dirty="0" smtClean="0"/>
              <a:t>Y</a:t>
            </a:r>
            <a:r>
              <a:rPr lang="en-US" sz="2000" dirty="0"/>
              <a:t>. Su, K. P. Seng, L. M. </a:t>
            </a:r>
            <a:r>
              <a:rPr lang="en-US" sz="2000" dirty="0" err="1"/>
              <a:t>Ang</a:t>
            </a:r>
            <a:r>
              <a:rPr lang="en-US" sz="2000" dirty="0"/>
              <a:t>, and J. Smith, “Binary Neural Networks in FPGAs: Architectures, Tool Flows and Hardware Comparisons,” </a:t>
            </a:r>
            <a:r>
              <a:rPr lang="en-US" sz="2000" i="1" dirty="0"/>
              <a:t>Sensors</a:t>
            </a:r>
            <a:r>
              <a:rPr lang="en-US" sz="2000" dirty="0"/>
              <a:t>, vol. 23, no. 22, Art. 9254, 2023.</a:t>
            </a:r>
          </a:p>
          <a:p>
            <a:r>
              <a:rPr lang="en-US" sz="2000" dirty="0" smtClean="0"/>
              <a:t>N</a:t>
            </a:r>
            <a:r>
              <a:rPr lang="en-US" sz="2000" dirty="0"/>
              <a:t>. M. </a:t>
            </a:r>
            <a:r>
              <a:rPr lang="en-US" sz="2000" dirty="0" err="1"/>
              <a:t>Botros</a:t>
            </a:r>
            <a:r>
              <a:rPr lang="en-US" sz="2000" dirty="0"/>
              <a:t> and M. Abdul-Aziz, “Hardware Implementation of an Artificial Neural Network,” Southern Illinois University, Carbondale, IL, USA.</a:t>
            </a:r>
          </a:p>
          <a:p>
            <a:r>
              <a:rPr lang="en-US" sz="2000" dirty="0" smtClean="0"/>
              <a:t>R</a:t>
            </a:r>
            <a:r>
              <a:rPr lang="en-US" sz="2000" dirty="0"/>
              <a:t>. A. Khalil, “Hardware Implementation of Backpropagation Neural Networks on Field Programmable Gate Array (FPGA),” University of Mosul, College of Engineering, Mosul, Iraq.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405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295" y="1093694"/>
            <a:ext cx="8471646" cy="4624981"/>
          </a:xfrm>
        </p:spPr>
        <p:txBody>
          <a:bodyPr>
            <a:noAutofit/>
          </a:bodyPr>
          <a:lstStyle/>
          <a:p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control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sequences valid/ready, input loading and layer enable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u="sng" dirty="0" smtClean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pPr lvl="0"/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config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centralizes generics/constants, e.g., number of inputs/neurons/layers, fixed-point width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LUT size, address widths.</a:t>
            </a:r>
          </a:p>
          <a:p>
            <a:pPr lvl="0"/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multiplier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fixed-point signed multiply with optional rounding/saturation and a pipeline register to map onto DSP slices in UltraScale+.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building block for MAC inside a neuron.</a:t>
            </a:r>
          </a:p>
          <a:p>
            <a:pPr lvl="0"/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neuron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compute y=σ(∑iwixi+b)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(∑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​+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in fixed-point.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Internals: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generate loop of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multiplier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instances for wi*xi​.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adder tree/accumulator to sum products.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add, optional saturation, and handoff to activation.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Interfaces: vector input, weight/bias inputs (from constants or ROM), valid/ready or start/done signals.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06044" y="220622"/>
            <a:ext cx="5937755" cy="729637"/>
          </a:xfrm>
        </p:spPr>
        <p:txBody>
          <a:bodyPr/>
          <a:lstStyle/>
          <a:p>
            <a:r>
              <a:rPr lang="en-US" dirty="0" smtClean="0"/>
              <a:t>Technical info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49341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04" y="647880"/>
            <a:ext cx="7869649" cy="5654308"/>
          </a:xfrm>
        </p:spPr>
        <p:txBody>
          <a:bodyPr>
            <a:noAutofit/>
          </a:bodyPr>
          <a:lstStyle/>
          <a:p>
            <a:pPr lvl="0"/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sigmoid_IP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activation function via lookup. Converts fixed-point input to LUT address, reads from BRAM/ROM.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Internals: address scaling/clamping + instance of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sigmoid_lut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.</a:t>
            </a:r>
          </a:p>
          <a:p>
            <a:pPr lvl="0"/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sigmoid_lut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the ROM primitive or inferred ROM for the LUT samples.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synthesized into BRAM on Zynq UltraScale+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control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FSM for sequencing the NN: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inputs for layer 1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MACs, wait for activation latency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 layer 2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valid flag and result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Interfaces: clock/reset, input stream (pixels or features), start/valid/ready, and status outputs.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772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80" y="701668"/>
            <a:ext cx="7394519" cy="4713014"/>
          </a:xfrm>
        </p:spPr>
        <p:txBody>
          <a:bodyPr/>
          <a:lstStyle/>
          <a:p>
            <a:pPr lvl="0"/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nn_rgb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top-level entity; instantiates control + arrays of neurons for each layer + sigmoid IP; wires constants from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config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exposes the top I/O.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integration point used as the synthesis top in Vivado TCL scripts.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Testbenches</a:t>
            </a:r>
          </a:p>
          <a:p>
            <a:pPr lvl="1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sim_nn_rgb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tb_nn_rgb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read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image_stimuli.ppm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compare to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image_response.ppm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 golden vectors in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testvectors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1179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370332"/>
            <a:ext cx="5937755" cy="1188720"/>
          </a:xfrm>
        </p:spPr>
        <p:txBody>
          <a:bodyPr>
            <a:normAutofit/>
          </a:bodyPr>
          <a:lstStyle/>
          <a:p>
            <a:r>
              <a:rPr lang="en-US" dirty="0"/>
              <a:t>Data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962" y="1678821"/>
            <a:ext cx="8192379" cy="4219955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Ingress (per clock):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entity nn_rgb exposes video ports: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 vs_in, hs_in, de_in, r_in[7:0], g_in[7:0], b_in[7:0]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 vs_out, hs_out, de_out, r_out[7:0], g_out[7:0], b_out[7:0]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each clk, when de_in = '1', the 8‑bit r_in/g_in/b_in samples are registered and forwarded as feature inputs to the first-layer MACs.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Control/timing alignment: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gates “pixel valid” into the compute path and delays vs/hs/de to align with the NN latency, so output timing matches the corresponding processed pixel. </a:t>
            </a:r>
          </a:p>
        </p:txBody>
      </p:sp>
    </p:spTree>
    <p:extLst>
      <p:ext uri="{BB962C8B-B14F-4D97-AF65-F5344CB8AC3E}">
        <p14:creationId xmlns:p14="http://schemas.microsoft.com/office/powerpoint/2010/main" val="3111961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835" y="322729"/>
            <a:ext cx="8408894" cy="61049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MACs multiply each incoming feature by fixed weights using the multiplier, sum inside the neuron, add bias, then apply activation in sigmoid_IP, which reads the LUT ROM sigmoid_lut initialized by coe.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Fixed‑point scaling follows the project’s Qm.n settings from config (inputs are interpreted in that format; arithmetic is scaled by the NN result is mapped to r_out/g_out/b_out (and de_out/hs_out/vs_out are the delayed timing), ready for downstream video.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70305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5328</TotalTime>
  <Words>2883</Words>
  <Application>Microsoft Office PowerPoint</Application>
  <PresentationFormat>On-screen Show (4:3)</PresentationFormat>
  <Paragraphs>329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Gill Sans MT</vt:lpstr>
      <vt:lpstr>Times New Roman</vt:lpstr>
      <vt:lpstr>Wingdings</vt:lpstr>
      <vt:lpstr>Parcel</vt:lpstr>
      <vt:lpstr>Neural Network for Wildfire Detection: a hardware design approach</vt:lpstr>
      <vt:lpstr>contents</vt:lpstr>
      <vt:lpstr>contents</vt:lpstr>
      <vt:lpstr>FPGA implementation, neural networks, nonlinear systems</vt:lpstr>
      <vt:lpstr>Problem Definition</vt:lpstr>
      <vt:lpstr>What is neural network?</vt:lpstr>
      <vt:lpstr>PowerPoint Presentation</vt:lpstr>
      <vt:lpstr>Activation functions</vt:lpstr>
      <vt:lpstr>forward propagation</vt:lpstr>
      <vt:lpstr>Backpropagation</vt:lpstr>
      <vt:lpstr>Iteration</vt:lpstr>
      <vt:lpstr>Refinement</vt:lpstr>
      <vt:lpstr>architecture</vt:lpstr>
      <vt:lpstr>Neural Network Topology and Quantization</vt:lpstr>
      <vt:lpstr>Fixed-Point and LUT Activation</vt:lpstr>
      <vt:lpstr>Dataset and Sampling</vt:lpstr>
      <vt:lpstr>Dataset Examples</vt:lpstr>
      <vt:lpstr>Experimental Results</vt:lpstr>
      <vt:lpstr>Simulation</vt:lpstr>
      <vt:lpstr>Simulation</vt:lpstr>
      <vt:lpstr>Simulation Output</vt:lpstr>
      <vt:lpstr>Hardware implementation</vt:lpstr>
      <vt:lpstr>FPGA Top-Level Processing Chain</vt:lpstr>
      <vt:lpstr>Key RTL Modules (nn_rgb.vhd)</vt:lpstr>
      <vt:lpstr>The neuron</vt:lpstr>
      <vt:lpstr>Hardware Platforms</vt:lpstr>
      <vt:lpstr>End-to-end workflow</vt:lpstr>
      <vt:lpstr>PowerPoint Presentation</vt:lpstr>
      <vt:lpstr>VHDL design overview</vt:lpstr>
      <vt:lpstr>VHDL design overview</vt:lpstr>
      <vt:lpstr>Resource and Timing</vt:lpstr>
      <vt:lpstr>Limitations and Future Work</vt:lpstr>
      <vt:lpstr>Conclusion</vt:lpstr>
      <vt:lpstr>bibliography</vt:lpstr>
      <vt:lpstr>Technical info</vt:lpstr>
      <vt:lpstr>PowerPoint Presentation</vt:lpstr>
      <vt:lpstr>PowerPoint Presentation</vt:lpstr>
      <vt:lpstr>Data path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Wildfire Pixel Classification on FPGA</dc:title>
  <dc:subject/>
  <dc:creator>ASUS MAXIMUS IX HERO</dc:creator>
  <cp:keywords/>
  <dc:description>generated using python-pptx</dc:description>
  <cp:lastModifiedBy>ASUS MAXIMUS IX HERO</cp:lastModifiedBy>
  <cp:revision>86</cp:revision>
  <dcterms:created xsi:type="dcterms:W3CDTF">2013-01-27T09:14:16Z</dcterms:created>
  <dcterms:modified xsi:type="dcterms:W3CDTF">2026-03-18T20:01:40Z</dcterms:modified>
  <cp:category/>
</cp:coreProperties>
</file>