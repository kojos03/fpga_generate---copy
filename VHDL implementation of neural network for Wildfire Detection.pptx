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4"/>
  </p:notesMasterIdLst>
  <p:sldIdLst>
    <p:sldId id="274" r:id="rId2"/>
    <p:sldId id="280" r:id="rId3"/>
    <p:sldId id="273" r:id="rId4"/>
    <p:sldId id="275" r:id="rId5"/>
    <p:sldId id="276" r:id="rId6"/>
    <p:sldId id="277" r:id="rId7"/>
    <p:sldId id="278" r:id="rId8"/>
    <p:sldId id="279" r:id="rId9"/>
    <p:sldId id="257" r:id="rId10"/>
    <p:sldId id="256" r:id="rId11"/>
    <p:sldId id="260" r:id="rId12"/>
    <p:sldId id="263" r:id="rId13"/>
    <p:sldId id="259" r:id="rId14"/>
    <p:sldId id="289" r:id="rId15"/>
    <p:sldId id="258" r:id="rId16"/>
    <p:sldId id="267" r:id="rId17"/>
    <p:sldId id="282" r:id="rId18"/>
    <p:sldId id="264" r:id="rId19"/>
    <p:sldId id="265" r:id="rId20"/>
    <p:sldId id="281" r:id="rId21"/>
    <p:sldId id="268" r:id="rId22"/>
    <p:sldId id="283" r:id="rId23"/>
    <p:sldId id="284" r:id="rId24"/>
    <p:sldId id="285" r:id="rId25"/>
    <p:sldId id="286" r:id="rId26"/>
    <p:sldId id="287" r:id="rId27"/>
    <p:sldId id="290" r:id="rId28"/>
    <p:sldId id="288" r:id="rId29"/>
    <p:sldId id="291" r:id="rId30"/>
    <p:sldId id="270" r:id="rId31"/>
    <p:sldId id="271" r:id="rId32"/>
    <p:sldId id="272"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927" autoAdjust="0"/>
    <p:restoredTop sz="94660"/>
  </p:normalViewPr>
  <p:slideViewPr>
    <p:cSldViewPr snapToGrid="0" snapToObjects="1">
      <p:cViewPr varScale="1">
        <p:scale>
          <a:sx n="107" d="100"/>
          <a:sy n="107" d="100"/>
        </p:scale>
        <p:origin x="1332"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62055-B13C-4613-83A1-B4299BCABB00}" type="datetimeFigureOut">
              <a:rPr lang="en-US" smtClean="0"/>
              <a:t>2/24/2026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00FA6DA-BA71-4DB6-AC18-B52481E91B75}" type="slidenum">
              <a:rPr lang="en-US" smtClean="0"/>
              <a:t>‹#›</a:t>
            </a:fld>
            <a:endParaRPr lang="en-US"/>
          </a:p>
        </p:txBody>
      </p:sp>
    </p:spTree>
    <p:extLst>
      <p:ext uri="{BB962C8B-B14F-4D97-AF65-F5344CB8AC3E}">
        <p14:creationId xmlns:p14="http://schemas.microsoft.com/office/powerpoint/2010/main" val="484465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each pixel is classified in real time using FPGA hardware.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334030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102240" y="2386744"/>
            <a:ext cx="6939520" cy="1645920"/>
          </a:xfrm>
          <a:solidFill>
            <a:srgbClr val="FFFFFF"/>
          </a:solidFill>
          <a:ln w="38100">
            <a:solidFill>
              <a:srgbClr val="404040"/>
            </a:solidFill>
          </a:ln>
        </p:spPr>
        <p:txBody>
          <a:bodyPr lIns="274320" rIns="274320" anchor="ctr" anchorCtr="1">
            <a:normAutofit/>
          </a:bodyPr>
          <a:lstStyle>
            <a:lvl1pPr algn="ctr">
              <a:defRPr sz="35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021396" y="4352544"/>
            <a:ext cx="5101209" cy="1239894"/>
          </a:xfrm>
          <a:noFill/>
        </p:spPr>
        <p:txBody>
          <a:bodyPr>
            <a:normAutofit/>
          </a:bodyPr>
          <a:lstStyle>
            <a:lvl1pPr marL="0" indent="0" algn="ctr">
              <a:buNone/>
              <a:defRPr sz="1900">
                <a:solidFill>
                  <a:schemeClr val="tx1">
                    <a:lumMod val="75000"/>
                    <a:lumOff val="25000"/>
                  </a:schemeClr>
                </a:solidFill>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1197273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851671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106424" y="2386744"/>
            <a:ext cx="6940296" cy="1645920"/>
          </a:xfrm>
          <a:solidFill>
            <a:srgbClr val="FFFFFF"/>
          </a:solidFill>
          <a:ln w="38100">
            <a:solidFill>
              <a:srgbClr val="404040"/>
            </a:solidFill>
          </a:ln>
        </p:spPr>
        <p:txBody>
          <a:bodyPr lIns="274320" rIns="274320" anchor="ctr" anchorCtr="1">
            <a:normAutofit/>
          </a:bodyPr>
          <a:lstStyle>
            <a:lvl1pPr>
              <a:defRPr sz="35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21396" y="4352465"/>
            <a:ext cx="5101209" cy="1265082"/>
          </a:xfrm>
        </p:spPr>
        <p:txBody>
          <a:bodyPr anchor="t" anchorCtr="1">
            <a:normAutofit/>
          </a:bodyPr>
          <a:lstStyle>
            <a:lvl1pPr marL="0" indent="0">
              <a:buNone/>
              <a:defRPr sz="1900">
                <a:solidFill>
                  <a:schemeClr val="tx1"/>
                </a:solidFill>
              </a:defRPr>
            </a:lvl1pPr>
            <a:lvl2pPr marL="457200" indent="0">
              <a:buNone/>
              <a:defRPr sz="19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8144294"/>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2239" y="2638044"/>
            <a:ext cx="3288023"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753737" y="2638044"/>
            <a:ext cx="3290516" cy="310198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5BCAD085-E8A6-8845-BD4E-CB4CCA059FC4}" type="datetimeFigureOut">
              <a:rPr lang="en-US" smtClean="0"/>
              <a:t>2/24/2026</a:t>
            </a:fld>
            <a:endParaRPr lang="en-US"/>
          </a:p>
        </p:txBody>
      </p:sp>
      <p:sp>
        <p:nvSpPr>
          <p:cNvPr id="9" name="Footer Placeholder 8"/>
          <p:cNvSpPr>
            <a:spLocks noGrp="1"/>
          </p:cNvSpPr>
          <p:nvPr>
            <p:ph type="ftr" sz="quarter" idx="11"/>
          </p:nvPr>
        </p:nvSpPr>
        <p:spPr/>
        <p:txBody>
          <a:body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39536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02239" y="2313434"/>
            <a:ext cx="3288024"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02239" y="3143250"/>
            <a:ext cx="3288024" cy="259677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4753737" y="3143250"/>
            <a:ext cx="3290516" cy="2596776"/>
          </a:xfrm>
        </p:spPr>
        <p:txBody>
          <a:bodyPr/>
          <a:lstStyle>
            <a:lvl5pPr>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4753737" y="2313434"/>
            <a:ext cx="3290516"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7" name="Date Placeholder 6"/>
          <p:cNvSpPr>
            <a:spLocks noGrp="1"/>
          </p:cNvSpPr>
          <p:nvPr>
            <p:ph type="dt" sz="half" idx="10"/>
          </p:nvPr>
        </p:nvSpPr>
        <p:spPr/>
        <p:txBody>
          <a:bodyPr/>
          <a:lstStyle/>
          <a:p>
            <a:fld id="{5BCAD085-E8A6-8845-BD4E-CB4CCA059FC4}" type="datetimeFigureOut">
              <a:rPr lang="en-US" smtClean="0"/>
              <a:t>2/24/2026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
        <p:nvSpPr>
          <p:cNvPr id="10" name="Title 9"/>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391894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40522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43666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457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703" y="2243829"/>
            <a:ext cx="3290594" cy="1141497"/>
          </a:xfrm>
          <a:solidFill>
            <a:srgbClr val="FFFFFF"/>
          </a:solidFill>
          <a:ln>
            <a:solidFill>
              <a:srgbClr val="404040"/>
            </a:solidFill>
          </a:ln>
        </p:spPr>
        <p:txBody>
          <a:bodyPr anchor="ctr" anchorCtr="1">
            <a:normAutofit/>
          </a:bodyPr>
          <a:lstStyle>
            <a:lvl1pPr>
              <a:defRPr sz="21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5052060" y="804672"/>
            <a:ext cx="361188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62965" y="3549918"/>
            <a:ext cx="284607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9" name="Date Placeholder 8"/>
          <p:cNvSpPr>
            <a:spLocks noGrp="1"/>
          </p:cNvSpPr>
          <p:nvPr>
            <p:ph type="dt" sz="half" idx="10"/>
          </p:nvPr>
        </p:nvSpPr>
        <p:spPr/>
        <p:txBody>
          <a:bodyPr/>
          <a:lstStyle/>
          <a:p>
            <a:fld id="{5BCAD085-E8A6-8845-BD4E-CB4CCA059FC4}" type="datetimeFigureOut">
              <a:rPr lang="en-US" smtClean="0"/>
              <a:t>2/24/2026</a:t>
            </a:fld>
            <a:endParaRPr lang="en-US"/>
          </a:p>
        </p:txBody>
      </p:sp>
      <p:sp>
        <p:nvSpPr>
          <p:cNvPr id="10" name="Footer Placeholder 9"/>
          <p:cNvSpPr>
            <a:spLocks noGrp="1"/>
          </p:cNvSpPr>
          <p:nvPr>
            <p:ph type="ftr" sz="quarter" idx="11"/>
          </p:nvPr>
        </p:nvSpPr>
        <p:spPr>
          <a:xfrm>
            <a:off x="640703" y="6236208"/>
            <a:ext cx="3806398" cy="320040"/>
          </a:xfrm>
        </p:spPr>
        <p:txBody>
          <a:bodyPr>
            <a:normAutofit/>
          </a:bodyPr>
          <a:lstStyle>
            <a:lvl1pPr>
              <a:defRPr>
                <a:solidFill>
                  <a:srgbClr val="FFFFFF">
                    <a:alpha val="70000"/>
                  </a:srgbClr>
                </a:solidFill>
              </a:defRPr>
            </a:lvl1pPr>
          </a:lstStyle>
          <a:p>
            <a:endParaRPr lang="en-US"/>
          </a:p>
        </p:txBody>
      </p:sp>
      <p:sp>
        <p:nvSpPr>
          <p:cNvPr id="11" name="Slide Number Placeholder 10"/>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90870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1" y="0"/>
            <a:ext cx="4571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640080" y="2243828"/>
            <a:ext cx="3291840" cy="1143000"/>
          </a:xfrm>
          <a:solidFill>
            <a:srgbClr val="FFFFFF"/>
          </a:solidFill>
          <a:ln>
            <a:solidFill>
              <a:srgbClr val="262626"/>
            </a:solidFill>
          </a:ln>
        </p:spPr>
        <p:txBody>
          <a:bodyPr anchor="ctr" anchorCtr="1">
            <a:noAutofit/>
          </a:bodyPr>
          <a:lstStyle>
            <a:lvl1pPr>
              <a:defRPr sz="21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572000" y="-42172"/>
            <a:ext cx="4576573"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2965" y="3549919"/>
            <a:ext cx="284607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BCAD085-E8A6-8845-BD4E-CB4CCA059FC4}" type="datetimeFigureOut">
              <a:rPr lang="en-US" smtClean="0"/>
              <a:t>2/24/2026</a:t>
            </a:fld>
            <a:endParaRPr lang="en-US"/>
          </a:p>
        </p:txBody>
      </p:sp>
      <p:sp>
        <p:nvSpPr>
          <p:cNvPr id="9" name="Footer Placeholder 8"/>
          <p:cNvSpPr>
            <a:spLocks noGrp="1"/>
          </p:cNvSpPr>
          <p:nvPr>
            <p:ph type="ftr" sz="quarter" idx="11"/>
          </p:nvPr>
        </p:nvSpPr>
        <p:spPr>
          <a:xfrm>
            <a:off x="640080" y="6236208"/>
            <a:ext cx="3803904" cy="320040"/>
          </a:xfrm>
        </p:spPr>
        <p:txBody>
          <a:bodyPr>
            <a:normAutofit/>
          </a:bodyPr>
          <a:lstStyle>
            <a:lvl1pPr>
              <a:defRPr>
                <a:solidFill>
                  <a:srgbClr val="FFFFFF">
                    <a:alpha val="70000"/>
                  </a:srgbClr>
                </a:solidFill>
              </a:defRPr>
            </a:lvl1pPr>
          </a:lstStyle>
          <a:p>
            <a:endParaRPr lang="en-US"/>
          </a:p>
        </p:txBody>
      </p:sp>
      <p:sp>
        <p:nvSpPr>
          <p:cNvPr id="10" name="Slide Number Placeholder 9"/>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59215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342631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89834" y="937260"/>
            <a:ext cx="1053966"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606046" y="937260"/>
            <a:ext cx="4716174" cy="498348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526372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1606045" y="964692"/>
            <a:ext cx="5937755"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606045" y="2638045"/>
            <a:ext cx="5937755" cy="3101983"/>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5978943" y="6238816"/>
            <a:ext cx="2065310" cy="323968"/>
          </a:xfrm>
          <a:prstGeom prst="rect">
            <a:avLst/>
          </a:prstGeom>
        </p:spPr>
        <p:txBody>
          <a:bodyPr vert="horz" lIns="91440" tIns="45720" rIns="91440" bIns="45720" rtlCol="0" anchor="ctr"/>
          <a:lstStyle>
            <a:lvl1pPr algn="r">
              <a:defRPr sz="1000">
                <a:solidFill>
                  <a:schemeClr val="tx1">
                    <a:alpha val="70000"/>
                  </a:schemeClr>
                </a:solidFill>
              </a:defRPr>
            </a:lvl1pPr>
          </a:lstStyle>
          <a:p>
            <a:fld id="{5BCAD085-E8A6-8845-BD4E-CB4CCA059FC4}" type="datetimeFigureOut">
              <a:rPr lang="en-US" smtClean="0"/>
              <a:t>2/24/2026</a:t>
            </a:fld>
            <a:endParaRPr lang="en-US"/>
          </a:p>
        </p:txBody>
      </p:sp>
      <p:sp>
        <p:nvSpPr>
          <p:cNvPr id="5" name="Footer Placeholder 4"/>
          <p:cNvSpPr>
            <a:spLocks noGrp="1"/>
          </p:cNvSpPr>
          <p:nvPr>
            <p:ph type="ftr" sz="quarter" idx="3"/>
          </p:nvPr>
        </p:nvSpPr>
        <p:spPr>
          <a:xfrm>
            <a:off x="1102239" y="6236208"/>
            <a:ext cx="4556664"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a:p>
        </p:txBody>
      </p:sp>
      <p:sp>
        <p:nvSpPr>
          <p:cNvPr id="6" name="Slide Number Placeholder 5"/>
          <p:cNvSpPr>
            <a:spLocks noGrp="1"/>
          </p:cNvSpPr>
          <p:nvPr>
            <p:ph type="sldNum" sz="quarter" idx="4"/>
          </p:nvPr>
        </p:nvSpPr>
        <p:spPr>
          <a:xfrm>
            <a:off x="8240112" y="6217920"/>
            <a:ext cx="365760" cy="365760"/>
          </a:xfrm>
          <a:prstGeom prst="ellipse">
            <a:avLst/>
          </a:prstGeom>
          <a:solidFill>
            <a:srgbClr val="1D1D1D">
              <a:alpha val="69804"/>
            </a:srgbClr>
          </a:solidFill>
        </p:spPr>
        <p:txBody>
          <a:bodyPr vert="horz" lIns="18288" tIns="45720" rIns="18288" bIns="45720" rtlCol="0" anchor="ctr">
            <a:noAutofit/>
          </a:bodyPr>
          <a:lstStyle>
            <a:lvl1pPr algn="ctr">
              <a:defRPr sz="1100" spc="0" baseline="0">
                <a:solidFill>
                  <a:srgbClr val="FF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3718411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lnSpc>
          <a:spcPct val="90000"/>
        </a:lnSpc>
        <a:spcBef>
          <a:spcPct val="0"/>
        </a:spcBef>
        <a:buNone/>
        <a:defRPr sz="26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vscode-file://vscode-app/d:/Microsoft%20VS%20Code/resources/app/out/vs/code/electron-browser/workbench/workbench.html"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99535" y="660400"/>
            <a:ext cx="8026879" cy="1858513"/>
          </a:xfrm>
        </p:spPr>
        <p:txBody>
          <a:bodyPr>
            <a:normAutofit/>
          </a:bodyPr>
          <a:lstStyle/>
          <a:p>
            <a:r>
              <a:rPr lang="en-US" dirty="0" smtClean="0"/>
              <a:t>Neural Network </a:t>
            </a:r>
            <a:r>
              <a:rPr dirty="0" smtClean="0"/>
              <a:t>for </a:t>
            </a:r>
            <a:r>
              <a:rPr dirty="0"/>
              <a:t>Wildfire </a:t>
            </a:r>
            <a:r>
              <a:rPr dirty="0" smtClean="0"/>
              <a:t>Detection</a:t>
            </a:r>
            <a:r>
              <a:rPr lang="en-US" dirty="0" smtClean="0"/>
              <a:t>: a VHDL approach</a:t>
            </a:r>
            <a:endParaRPr dirty="0"/>
          </a:p>
        </p:txBody>
      </p:sp>
      <p:sp>
        <p:nvSpPr>
          <p:cNvPr id="3" name="Subtitle 2"/>
          <p:cNvSpPr>
            <a:spLocks noGrp="1"/>
          </p:cNvSpPr>
          <p:nvPr>
            <p:ph type="subTitle" idx="1"/>
          </p:nvPr>
        </p:nvSpPr>
        <p:spPr>
          <a:xfrm>
            <a:off x="897147" y="2937293"/>
            <a:ext cx="7177177" cy="2669875"/>
          </a:xfrm>
        </p:spPr>
        <p:txBody>
          <a:bodyPr>
            <a:normAutofit fontScale="92500" lnSpcReduction="10000"/>
          </a:bodyPr>
          <a:lstStyle/>
          <a:p>
            <a:r>
              <a:rPr dirty="0"/>
              <a:t>Bachelor Thesis</a:t>
            </a:r>
            <a:endParaRPr lang="en-US" dirty="0"/>
          </a:p>
          <a:p>
            <a:endParaRPr lang="en-US" dirty="0"/>
          </a:p>
          <a:p>
            <a:endParaRPr lang="en-US" dirty="0"/>
          </a:p>
          <a:p>
            <a:endParaRPr dirty="0"/>
          </a:p>
          <a:p>
            <a:r>
              <a:rPr dirty="0" err="1"/>
              <a:t>Constantinos</a:t>
            </a:r>
            <a:r>
              <a:rPr dirty="0"/>
              <a:t> </a:t>
            </a:r>
            <a:r>
              <a:rPr dirty="0" err="1"/>
              <a:t>Dionysiou</a:t>
            </a:r>
            <a:endParaRPr dirty="0"/>
          </a:p>
          <a:p>
            <a:r>
              <a:rPr dirty="0"/>
              <a:t>Cyprus University of Technology</a:t>
            </a:r>
          </a:p>
          <a:p>
            <a:r>
              <a:rPr dirty="0"/>
              <a:t>Department of Electrical Engineering</a:t>
            </a:r>
          </a:p>
        </p:txBody>
      </p:sp>
    </p:spTree>
    <p:extLst>
      <p:ext uri="{BB962C8B-B14F-4D97-AF65-F5344CB8AC3E}">
        <p14:creationId xmlns:p14="http://schemas.microsoft.com/office/powerpoint/2010/main" val="32656799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FPGA implementation, neural networks, nonlinear systems</a:t>
            </a:r>
          </a:p>
        </p:txBody>
      </p:sp>
      <p:sp>
        <p:nvSpPr>
          <p:cNvPr id="3" name="Content Placeholder 2"/>
          <p:cNvSpPr>
            <a:spLocks noGrp="1"/>
          </p:cNvSpPr>
          <p:nvPr>
            <p:ph idx="1"/>
          </p:nvPr>
        </p:nvSpPr>
        <p:spPr>
          <a:xfrm>
            <a:off x="1264704" y="2563907"/>
            <a:ext cx="6620435" cy="3176122"/>
          </a:xfrm>
        </p:spPr>
        <p:txBody>
          <a:bodyPr>
            <a:normAutofit fontScale="92500" lnSpcReduction="10000"/>
          </a:bodyPr>
          <a:lstStyle/>
          <a:p>
            <a:r>
              <a:rPr lang="en-US" dirty="0" smtClean="0">
                <a:latin typeface="Times New Roman" panose="02020603050405020304" pitchFamily="18" charset="0"/>
                <a:cs typeface="Times New Roman" panose="02020603050405020304" pitchFamily="18" charset="0"/>
              </a:rPr>
              <a:t>Artificial neural </a:t>
            </a:r>
            <a:r>
              <a:rPr lang="en-US" dirty="0" smtClean="0">
                <a:latin typeface="Times New Roman" panose="02020603050405020304" pitchFamily="18" charset="0"/>
                <a:cs typeface="Times New Roman" panose="02020603050405020304" pitchFamily="18" charset="0"/>
              </a:rPr>
              <a:t>networks (ANNs) </a:t>
            </a:r>
            <a:r>
              <a:rPr lang="en-US" dirty="0">
                <a:latin typeface="Times New Roman" panose="02020603050405020304" pitchFamily="18" charset="0"/>
                <a:cs typeface="Times New Roman" panose="02020603050405020304" pitchFamily="18" charset="0"/>
              </a:rPr>
              <a:t>are selected </a:t>
            </a:r>
            <a:r>
              <a:rPr lang="en-US" dirty="0">
                <a:latin typeface="Times New Roman" panose="02020603050405020304" pitchFamily="18" charset="0"/>
                <a:cs typeface="Times New Roman" panose="02020603050405020304" pitchFamily="18" charset="0"/>
              </a:rPr>
              <a:t>for their adaptability, which enables them to analyze diverse data quickly through </a:t>
            </a:r>
            <a:r>
              <a:rPr lang="en-US" dirty="0">
                <a:latin typeface="Times New Roman" panose="02020603050405020304" pitchFamily="18" charset="0"/>
                <a:cs typeface="Times New Roman" panose="02020603050405020304" pitchFamily="18" charset="0"/>
              </a:rPr>
              <a:t>network parallelism. </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Given these unique characteristics of ANNs, the customizable nature of </a:t>
            </a:r>
            <a:r>
              <a:rPr lang="en-US" dirty="0" smtClean="0">
                <a:latin typeface="Times New Roman" panose="02020603050405020304" pitchFamily="18" charset="0"/>
                <a:cs typeface="Times New Roman" panose="02020603050405020304" pitchFamily="18" charset="0"/>
              </a:rPr>
              <a:t>FPGAs (field programmable gate arrays) </a:t>
            </a:r>
            <a:r>
              <a:rPr lang="en-US" dirty="0">
                <a:latin typeface="Times New Roman" panose="02020603050405020304" pitchFamily="18" charset="0"/>
                <a:cs typeface="Times New Roman" panose="02020603050405020304" pitchFamily="18" charset="0"/>
              </a:rPr>
              <a:t>makes them an intriguing option for a hardware implementation. Therefore, even if FPGAs have poorer performance than VLSI (Very Large Scale Integration) circuits, it is still possible to change an ANN's features or structure without rebuilding the circuit. Additionally, FPGAs have rapid design cycles and are inherently parallel.</a:t>
            </a:r>
          </a:p>
        </p:txBody>
      </p:sp>
    </p:spTree>
    <p:extLst>
      <p:ext uri="{BB962C8B-B14F-4D97-AF65-F5344CB8AC3E}">
        <p14:creationId xmlns:p14="http://schemas.microsoft.com/office/powerpoint/2010/main" val="2693432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Definition</a:t>
            </a:r>
          </a:p>
        </p:txBody>
      </p:sp>
      <p:sp>
        <p:nvSpPr>
          <p:cNvPr id="3" name="Content Placeholder 2"/>
          <p:cNvSpPr>
            <a:spLocks noGrp="1"/>
          </p:cNvSpPr>
          <p:nvPr>
            <p:ph idx="1"/>
          </p:nvPr>
        </p:nvSpPr>
        <p:spPr>
          <a:xfrm>
            <a:off x="1097297" y="2658396"/>
            <a:ext cx="6955249" cy="3101983"/>
          </a:xfrm>
        </p:spPr>
        <p:txBody>
          <a:bodyPr/>
          <a:lstStyle/>
          <a:p>
            <a:r>
              <a:rPr lang="en-US" dirty="0" smtClean="0">
                <a:latin typeface="Times New Roman" panose="02020603050405020304" pitchFamily="18" charset="0"/>
                <a:cs typeface="Times New Roman" panose="02020603050405020304" pitchFamily="18" charset="0"/>
              </a:rPr>
              <a:t>The problem </a:t>
            </a:r>
            <a:r>
              <a:rPr lang="en-US" dirty="0">
                <a:latin typeface="Times New Roman" panose="02020603050405020304" pitchFamily="18" charset="0"/>
                <a:cs typeface="Times New Roman" panose="02020603050405020304" pitchFamily="18" charset="0"/>
              </a:rPr>
              <a:t>of real-time wildfire indication </a:t>
            </a:r>
            <a:r>
              <a:rPr lang="en-US" dirty="0" smtClean="0">
                <a:latin typeface="Times New Roman" panose="02020603050405020304" pitchFamily="18" charset="0"/>
                <a:cs typeface="Times New Roman" panose="02020603050405020304" pitchFamily="18" charset="0"/>
              </a:rPr>
              <a:t>by using </a:t>
            </a:r>
            <a:r>
              <a:rPr lang="en-US" dirty="0">
                <a:latin typeface="Times New Roman" panose="02020603050405020304" pitchFamily="18" charset="0"/>
                <a:cs typeface="Times New Roman" panose="02020603050405020304" pitchFamily="18" charset="0"/>
              </a:rPr>
              <a:t>RGB video streams, with per-pixel classification performed at full video frame rate. The system is designed to operate entirely at the edge, without relying on cloud infrastructure or </a:t>
            </a:r>
            <a:r>
              <a:rPr lang="en-US" dirty="0" smtClean="0">
                <a:latin typeface="Times New Roman" panose="02020603050405020304" pitchFamily="18" charset="0"/>
                <a:cs typeface="Times New Roman" panose="02020603050405020304" pitchFamily="18" charset="0"/>
              </a:rPr>
              <a:t>GPU (Graphical Processing Unit) </a:t>
            </a:r>
            <a:r>
              <a:rPr lang="en-US" dirty="0">
                <a:latin typeface="Times New Roman" panose="02020603050405020304" pitchFamily="18" charset="0"/>
                <a:cs typeface="Times New Roman" panose="02020603050405020304" pitchFamily="18" charset="0"/>
              </a:rPr>
              <a:t>acceleration. </a:t>
            </a:r>
            <a:endParaRPr lang="en-US" dirty="0" smtClean="0">
              <a:latin typeface="Times New Roman" panose="02020603050405020304" pitchFamily="18" charset="0"/>
              <a:cs typeface="Times New Roman" panose="02020603050405020304" pitchFamily="18" charset="0"/>
            </a:endParaRPr>
          </a:p>
          <a:p>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overall goal is to achieve high throughput with low power consumption, enabling reliable and responsive wildfire detection in practical deployments.</a:t>
            </a:r>
            <a:endParaRPr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709985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2510118" y="4004848"/>
            <a:ext cx="5656729" cy="2606621"/>
          </a:xfrm>
          <a:prstGeom prst="rect">
            <a:avLst/>
          </a:prstGeom>
        </p:spPr>
      </p:pic>
      <p:sp>
        <p:nvSpPr>
          <p:cNvPr id="2" name="Title 1"/>
          <p:cNvSpPr>
            <a:spLocks noGrp="1"/>
          </p:cNvSpPr>
          <p:nvPr>
            <p:ph type="title"/>
          </p:nvPr>
        </p:nvSpPr>
        <p:spPr>
          <a:xfrm>
            <a:off x="1606045" y="238551"/>
            <a:ext cx="5937755" cy="1188720"/>
          </a:xfrm>
        </p:spPr>
        <p:txBody>
          <a:bodyPr/>
          <a:lstStyle/>
          <a:p>
            <a:r>
              <a:rPr lang="en-US" dirty="0"/>
              <a:t>What is neural network?</a:t>
            </a:r>
          </a:p>
        </p:txBody>
      </p:sp>
      <p:sp>
        <p:nvSpPr>
          <p:cNvPr id="9" name="TextBox 8"/>
          <p:cNvSpPr txBox="1"/>
          <p:nvPr/>
        </p:nvSpPr>
        <p:spPr>
          <a:xfrm>
            <a:off x="430306" y="1568824"/>
            <a:ext cx="7960659" cy="304698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Neural networks are machine learning models composed of interconnected nodes or neurons that process information, identify patterns, and facilitate tasks such as decision-making and pattern recognition.</a:t>
            </a:r>
          </a:p>
          <a:p>
            <a:endParaRPr lang="en-US" sz="1600" dirty="0">
              <a:latin typeface="Times New Roman" panose="02020603050405020304" pitchFamily="18" charset="0"/>
              <a:cs typeface="Times New Roman" panose="02020603050405020304" pitchFamily="18" charset="0"/>
            </a:endParaRPr>
          </a:p>
          <a:p>
            <a:pPr fontAlgn="base"/>
            <a:r>
              <a:rPr lang="en-US" sz="1600" dirty="0">
                <a:latin typeface="Times New Roman" panose="02020603050405020304" pitchFamily="18" charset="0"/>
                <a:cs typeface="Times New Roman" panose="02020603050405020304" pitchFamily="18" charset="0"/>
              </a:rPr>
              <a:t>Networks are built from several key components:</a:t>
            </a:r>
          </a:p>
          <a:p>
            <a:pPr fontAlgn="base"/>
            <a:r>
              <a:rPr lang="en-US" sz="1600" b="1" dirty="0">
                <a:latin typeface="Times New Roman" panose="02020603050405020304" pitchFamily="18" charset="0"/>
                <a:cs typeface="Times New Roman" panose="02020603050405020304" pitchFamily="18" charset="0"/>
              </a:rPr>
              <a:t>Neurons</a:t>
            </a:r>
            <a:r>
              <a:rPr lang="en-US" sz="1600" dirty="0">
                <a:latin typeface="Times New Roman" panose="02020603050405020304" pitchFamily="18" charset="0"/>
                <a:cs typeface="Times New Roman" panose="02020603050405020304" pitchFamily="18" charset="0"/>
              </a:rPr>
              <a:t>: The basic units that receive inputs, each neuron is governed by a threshold and an activation function.</a:t>
            </a:r>
          </a:p>
          <a:p>
            <a:pPr fontAlgn="base"/>
            <a:r>
              <a:rPr lang="en-US" sz="1600" b="1" dirty="0">
                <a:latin typeface="Times New Roman" panose="02020603050405020304" pitchFamily="18" charset="0"/>
                <a:cs typeface="Times New Roman" panose="02020603050405020304" pitchFamily="18" charset="0"/>
              </a:rPr>
              <a:t>Connections</a:t>
            </a:r>
            <a:r>
              <a:rPr lang="en-US" sz="1600" dirty="0">
                <a:latin typeface="Times New Roman" panose="02020603050405020304" pitchFamily="18" charset="0"/>
                <a:cs typeface="Times New Roman" panose="02020603050405020304" pitchFamily="18" charset="0"/>
              </a:rPr>
              <a:t>: Links between neurons that carry information, regulated by weights and biases.</a:t>
            </a:r>
          </a:p>
          <a:p>
            <a:pPr fontAlgn="base"/>
            <a:r>
              <a:rPr lang="en-US" sz="1600" b="1" dirty="0">
                <a:latin typeface="Times New Roman" panose="02020603050405020304" pitchFamily="18" charset="0"/>
                <a:cs typeface="Times New Roman" panose="02020603050405020304" pitchFamily="18" charset="0"/>
              </a:rPr>
              <a:t>Weights and Biases</a:t>
            </a:r>
            <a:r>
              <a:rPr lang="en-US" sz="1600" dirty="0">
                <a:latin typeface="Times New Roman" panose="02020603050405020304" pitchFamily="18" charset="0"/>
                <a:cs typeface="Times New Roman" panose="02020603050405020304" pitchFamily="18" charset="0"/>
              </a:rPr>
              <a:t>: These parameters determine the strength and influence of connections.</a:t>
            </a:r>
          </a:p>
          <a:p>
            <a:pPr fontAlgn="base"/>
            <a:r>
              <a:rPr lang="en-US" sz="1600" b="1" dirty="0">
                <a:latin typeface="Times New Roman" panose="02020603050405020304" pitchFamily="18" charset="0"/>
                <a:cs typeface="Times New Roman" panose="02020603050405020304" pitchFamily="18" charset="0"/>
              </a:rPr>
              <a:t>Propagation Functions</a:t>
            </a:r>
            <a:r>
              <a:rPr lang="en-US" sz="1600" dirty="0">
                <a:latin typeface="Times New Roman" panose="02020603050405020304" pitchFamily="18" charset="0"/>
                <a:cs typeface="Times New Roman" panose="02020603050405020304" pitchFamily="18" charset="0"/>
              </a:rPr>
              <a:t>: Mechanisms that help process and transfer data across layers of neurons.</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448918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p:cNvPicPr>
            <a:picLocks noChangeAspect="1"/>
          </p:cNvPicPr>
          <p:nvPr/>
        </p:nvPicPr>
        <p:blipFill>
          <a:blip r:embed="rId2"/>
          <a:stretch>
            <a:fillRect/>
          </a:stretch>
        </p:blipFill>
        <p:spPr>
          <a:xfrm>
            <a:off x="2663918" y="2802871"/>
            <a:ext cx="6200775" cy="3152775"/>
          </a:xfrm>
          <a:prstGeom prst="rect">
            <a:avLst/>
          </a:prstGeom>
        </p:spPr>
      </p:pic>
      <p:sp>
        <p:nvSpPr>
          <p:cNvPr id="11" name="TextBox 10"/>
          <p:cNvSpPr txBox="1"/>
          <p:nvPr/>
        </p:nvSpPr>
        <p:spPr>
          <a:xfrm>
            <a:off x="475129" y="1066801"/>
            <a:ext cx="6786283" cy="3816429"/>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Neuron  the output y=f(Xi*</a:t>
            </a:r>
            <a:r>
              <a:rPr lang="en-US" sz="1600" dirty="0" err="1">
                <a:latin typeface="Times New Roman" panose="02020603050405020304" pitchFamily="18" charset="0"/>
                <a:cs typeface="Times New Roman" panose="02020603050405020304" pitchFamily="18" charset="0"/>
              </a:rPr>
              <a:t>Wi+b</a:t>
            </a:r>
            <a:r>
              <a:rPr lang="en-US" sz="1600" dirty="0">
                <a:latin typeface="Times New Roman" panose="02020603050405020304" pitchFamily="18" charset="0"/>
                <a:cs typeface="Times New Roman" panose="02020603050405020304" pitchFamily="18" charset="0"/>
              </a:rPr>
              <a:t>)</a:t>
            </a:r>
          </a:p>
          <a:p>
            <a:endParaRPr lang="en-US" sz="1600" dirty="0">
              <a:latin typeface="Times New Roman" panose="02020603050405020304" pitchFamily="18" charset="0"/>
              <a:cs typeface="Times New Roman" panose="02020603050405020304" pitchFamily="18" charset="0"/>
            </a:endParaRPr>
          </a:p>
          <a:p>
            <a:pPr marL="342900" indent="-342900">
              <a:buAutoNum type="arabicPeriod"/>
            </a:pPr>
            <a:r>
              <a:rPr lang="en-US" sz="1600" dirty="0">
                <a:latin typeface="Times New Roman" panose="02020603050405020304" pitchFamily="18" charset="0"/>
                <a:cs typeface="Times New Roman" panose="02020603050405020304" pitchFamily="18" charset="0"/>
              </a:rPr>
              <a:t>Linear Transformation: Inputs are multiplied by the weights connected to each neuron in a layer. After adding a bias to the total, these products are totaled. This can be expressed numerically as: </a:t>
            </a:r>
            <a:r>
              <a:rPr lang="pl-PL" i="1" dirty="0">
                <a:latin typeface="Times New Roman" panose="02020603050405020304" pitchFamily="18" charset="0"/>
                <a:cs typeface="Times New Roman" panose="02020603050405020304" pitchFamily="18" charset="0"/>
              </a:rPr>
              <a:t>z</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w</a:t>
            </a:r>
            <a:r>
              <a:rPr lang="pl-PL" dirty="0">
                <a:latin typeface="Times New Roman" panose="02020603050405020304" pitchFamily="18" charset="0"/>
                <a:cs typeface="Times New Roman" panose="02020603050405020304" pitchFamily="18" charset="0"/>
              </a:rPr>
              <a:t>1​</a:t>
            </a:r>
            <a:r>
              <a:rPr lang="pl-PL" i="1" dirty="0">
                <a:latin typeface="Times New Roman" panose="02020603050405020304" pitchFamily="18" charset="0"/>
                <a:cs typeface="Times New Roman" panose="02020603050405020304" pitchFamily="18" charset="0"/>
              </a:rPr>
              <a:t>x</a:t>
            </a:r>
            <a:r>
              <a:rPr lang="pl-PL" dirty="0">
                <a:latin typeface="Times New Roman" panose="02020603050405020304" pitchFamily="18" charset="0"/>
                <a:cs typeface="Times New Roman" panose="02020603050405020304" pitchFamily="18" charset="0"/>
              </a:rPr>
              <a:t>1​+</a:t>
            </a:r>
            <a:r>
              <a:rPr lang="pl-PL" i="1" dirty="0">
                <a:latin typeface="Times New Roman" panose="02020603050405020304" pitchFamily="18" charset="0"/>
                <a:cs typeface="Times New Roman" panose="02020603050405020304" pitchFamily="18" charset="0"/>
              </a:rPr>
              <a:t>w</a:t>
            </a:r>
            <a:r>
              <a:rPr lang="pl-PL" dirty="0">
                <a:latin typeface="Times New Roman" panose="02020603050405020304" pitchFamily="18" charset="0"/>
                <a:cs typeface="Times New Roman" panose="02020603050405020304" pitchFamily="18" charset="0"/>
              </a:rPr>
              <a:t>2​</a:t>
            </a:r>
            <a:r>
              <a:rPr lang="pl-PL" i="1" dirty="0">
                <a:latin typeface="Times New Roman" panose="02020603050405020304" pitchFamily="18" charset="0"/>
                <a:cs typeface="Times New Roman" panose="02020603050405020304" pitchFamily="18" charset="0"/>
              </a:rPr>
              <a:t>x</a:t>
            </a:r>
            <a:r>
              <a:rPr lang="pl-PL" dirty="0">
                <a:latin typeface="Times New Roman" panose="02020603050405020304" pitchFamily="18" charset="0"/>
                <a:cs typeface="Times New Roman" panose="02020603050405020304" pitchFamily="18" charset="0"/>
              </a:rPr>
              <a:t>2​+…+</a:t>
            </a:r>
            <a:r>
              <a:rPr lang="pl-PL" i="1" dirty="0">
                <a:latin typeface="Times New Roman" panose="02020603050405020304" pitchFamily="18" charset="0"/>
                <a:cs typeface="Times New Roman" panose="02020603050405020304" pitchFamily="18" charset="0"/>
              </a:rPr>
              <a:t>wn</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xn</a:t>
            </a:r>
            <a:r>
              <a:rPr lang="pl-PL" dirty="0">
                <a:latin typeface="Times New Roman" panose="02020603050405020304" pitchFamily="18" charset="0"/>
                <a:cs typeface="Times New Roman" panose="02020603050405020304" pitchFamily="18" charset="0"/>
              </a:rPr>
              <a:t>​+</a:t>
            </a:r>
            <a:r>
              <a:rPr lang="pl-PL" i="1" dirty="0">
                <a:latin typeface="Times New Roman" panose="02020603050405020304" pitchFamily="18" charset="0"/>
                <a:cs typeface="Times New Roman" panose="02020603050405020304" pitchFamily="18" charset="0"/>
              </a:rPr>
              <a:t>b </a:t>
            </a:r>
            <a:endParaRPr lang="en-US" i="1" dirty="0">
              <a:latin typeface="Times New Roman" panose="02020603050405020304" pitchFamily="18" charset="0"/>
              <a:cs typeface="Times New Roman" panose="02020603050405020304" pitchFamily="18" charset="0"/>
            </a:endParaRPr>
          </a:p>
          <a:p>
            <a:pPr marL="342900" indent="-342900">
              <a:buAutoNum type="arabicPeriod"/>
            </a:pPr>
            <a:endParaRPr lang="en-US" sz="1600" i="1"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where</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W:represents the weights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X: represents the inputs</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 is the bias</a:t>
            </a:r>
          </a:p>
        </p:txBody>
      </p:sp>
    </p:spTree>
    <p:extLst>
      <p:ext uri="{BB962C8B-B14F-4D97-AF65-F5344CB8AC3E}">
        <p14:creationId xmlns:p14="http://schemas.microsoft.com/office/powerpoint/2010/main" val="31542899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Activation functions</a:t>
            </a:r>
          </a:p>
        </p:txBody>
      </p:sp>
      <p:pic>
        <p:nvPicPr>
          <p:cNvPr id="5" name="Picture 4"/>
          <p:cNvPicPr>
            <a:picLocks noChangeAspect="1"/>
          </p:cNvPicPr>
          <p:nvPr/>
        </p:nvPicPr>
        <p:blipFill>
          <a:blip r:embed="rId2"/>
          <a:stretch>
            <a:fillRect/>
          </a:stretch>
        </p:blipFill>
        <p:spPr>
          <a:xfrm>
            <a:off x="1117347" y="2450726"/>
            <a:ext cx="6915150" cy="2781300"/>
          </a:xfrm>
          <a:prstGeom prst="rect">
            <a:avLst/>
          </a:prstGeom>
        </p:spPr>
      </p:pic>
      <p:sp>
        <p:nvSpPr>
          <p:cNvPr id="6" name="TextBox 5"/>
          <p:cNvSpPr txBox="1"/>
          <p:nvPr/>
        </p:nvSpPr>
        <p:spPr>
          <a:xfrm>
            <a:off x="1114425" y="5413956"/>
            <a:ext cx="7617199" cy="1077218"/>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2. Activation: The result of the linear transformation (denoted as z) is then passed through an activation function. The activation function is crucial because it introduces non-linearity into the system, enabling the network to learn more complex patterns. Popular activation functions include </a:t>
            </a:r>
            <a:r>
              <a:rPr lang="en-US" sz="1600" dirty="0" err="1" smtClean="0">
                <a:latin typeface="Times New Roman" panose="02020603050405020304" pitchFamily="18" charset="0"/>
                <a:cs typeface="Times New Roman" panose="02020603050405020304" pitchFamily="18" charset="0"/>
              </a:rPr>
              <a:t>ReLU</a:t>
            </a:r>
            <a:r>
              <a:rPr lang="en-US" sz="1600" dirty="0" smtClean="0">
                <a:latin typeface="Times New Roman" panose="02020603050405020304" pitchFamily="18" charset="0"/>
                <a:cs typeface="Times New Roman" panose="02020603050405020304" pitchFamily="18" charset="0"/>
              </a:rPr>
              <a:t> (Rectified Linear Unit) </a:t>
            </a:r>
            <a:r>
              <a:rPr lang="en-US" sz="1600" dirty="0">
                <a:latin typeface="Times New Roman" panose="02020603050405020304" pitchFamily="18" charset="0"/>
                <a:cs typeface="Times New Roman" panose="02020603050405020304" pitchFamily="18" charset="0"/>
              </a:rPr>
              <a:t>and sigmoid.</a:t>
            </a:r>
          </a:p>
        </p:txBody>
      </p:sp>
    </p:spTree>
    <p:extLst>
      <p:ext uri="{BB962C8B-B14F-4D97-AF65-F5344CB8AC3E}">
        <p14:creationId xmlns:p14="http://schemas.microsoft.com/office/powerpoint/2010/main" val="1459342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Backpropagation</a:t>
            </a:r>
            <a:endParaRPr lang="en-US" dirty="0"/>
          </a:p>
        </p:txBody>
      </p:sp>
      <p:sp>
        <p:nvSpPr>
          <p:cNvPr id="3" name="Content Placeholder 2"/>
          <p:cNvSpPr>
            <a:spLocks noGrp="1"/>
          </p:cNvSpPr>
          <p:nvPr>
            <p:ph idx="1"/>
          </p:nvPr>
        </p:nvSpPr>
        <p:spPr>
          <a:xfrm>
            <a:off x="358588" y="2250141"/>
            <a:ext cx="8175811" cy="4419600"/>
          </a:xfrm>
        </p:spPr>
        <p:txBody>
          <a:bodyPr>
            <a:normAutofit/>
          </a:bodyPr>
          <a:lstStyle/>
          <a:p>
            <a:r>
              <a:rPr lang="en-US" dirty="0">
                <a:latin typeface="Times New Roman" panose="02020603050405020304" pitchFamily="18" charset="0"/>
                <a:cs typeface="Times New Roman" panose="02020603050405020304" pitchFamily="18" charset="0"/>
              </a:rPr>
              <a:t>Following forward propagation, the network uses a loss function to quantify the discrepancy between the actual and expected outputs, assessing its performance. Reducing this loss is the aim of training. </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buNone/>
            </a:pPr>
            <a:r>
              <a:rPr lang="en-US" b="1" dirty="0">
                <a:latin typeface="Times New Roman" panose="02020603050405020304" pitchFamily="18" charset="0"/>
                <a:cs typeface="Times New Roman" panose="02020603050405020304" pitchFamily="18" charset="0"/>
              </a:rPr>
              <a:t>Loss Calculation</a:t>
            </a:r>
            <a:r>
              <a:rPr lang="en-US" dirty="0">
                <a:latin typeface="Times New Roman" panose="02020603050405020304" pitchFamily="18" charset="0"/>
                <a:cs typeface="Times New Roman" panose="02020603050405020304" pitchFamily="18" charset="0"/>
              </a:rPr>
              <a:t>: The network determines the loss, which gives an indication of the prediction error</a:t>
            </a:r>
            <a:r>
              <a:rPr lang="en-US" dirty="0" smtClean="0">
                <a:latin typeface="Times New Roman" panose="02020603050405020304" pitchFamily="18" charset="0"/>
                <a:cs typeface="Times New Roman" panose="02020603050405020304" pitchFamily="18" charset="0"/>
              </a:rPr>
              <a:t>.</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Gradient </a:t>
            </a:r>
            <a:r>
              <a:rPr lang="en-US" b="1" dirty="0">
                <a:latin typeface="Times New Roman" panose="02020603050405020304" pitchFamily="18" charset="0"/>
                <a:cs typeface="Times New Roman" panose="02020603050405020304" pitchFamily="18" charset="0"/>
              </a:rPr>
              <a:t>Calculation</a:t>
            </a:r>
            <a:r>
              <a:rPr lang="en-US" dirty="0">
                <a:latin typeface="Times New Roman" panose="02020603050405020304" pitchFamily="18" charset="0"/>
                <a:cs typeface="Times New Roman" panose="02020603050405020304" pitchFamily="18" charset="0"/>
              </a:rPr>
              <a:t>: The network calculates the gradients of the loss function in relation to each network weight and bias</a:t>
            </a:r>
            <a:r>
              <a:rPr lang="en-US" dirty="0" smtClean="0">
                <a:latin typeface="Times New Roman" panose="02020603050405020304" pitchFamily="18" charset="0"/>
                <a:cs typeface="Times New Roman" panose="02020603050405020304" pitchFamily="18" charset="0"/>
              </a:rPr>
              <a:t>.</a:t>
            </a:r>
          </a:p>
          <a:p>
            <a:pPr marL="0" indent="0">
              <a:buNone/>
            </a:pPr>
            <a:endParaRPr lang="en-US" dirty="0" smtClean="0">
              <a:latin typeface="Times New Roman" panose="02020603050405020304" pitchFamily="18" charset="0"/>
              <a:cs typeface="Times New Roman" panose="02020603050405020304" pitchFamily="18" charset="0"/>
            </a:endParaRPr>
          </a:p>
          <a:p>
            <a:pPr marL="0" indent="0">
              <a:buNone/>
            </a:pPr>
            <a:r>
              <a:rPr lang="en-US" b="1" dirty="0" smtClean="0">
                <a:latin typeface="Times New Roman" panose="02020603050405020304" pitchFamily="18" charset="0"/>
                <a:cs typeface="Times New Roman" panose="02020603050405020304" pitchFamily="18" charset="0"/>
              </a:rPr>
              <a:t>Weight </a:t>
            </a:r>
            <a:r>
              <a:rPr lang="en-US" b="1" dirty="0">
                <a:latin typeface="Times New Roman" panose="02020603050405020304" pitchFamily="18" charset="0"/>
                <a:cs typeface="Times New Roman" panose="02020603050405020304" pitchFamily="18" charset="0"/>
              </a:rPr>
              <a:t>Update</a:t>
            </a:r>
            <a:r>
              <a:rPr lang="en-US" dirty="0">
                <a:latin typeface="Times New Roman" panose="02020603050405020304" pitchFamily="18" charset="0"/>
                <a:cs typeface="Times New Roman" panose="02020603050405020304" pitchFamily="18" charset="0"/>
              </a:rPr>
              <a:t>: After the gradients are computed, an optimization procedure such as stochastic gradient descent (SGD) is used to update the weights and biases. </a:t>
            </a:r>
          </a:p>
        </p:txBody>
      </p:sp>
    </p:spTree>
    <p:extLst>
      <p:ext uri="{BB962C8B-B14F-4D97-AF65-F5344CB8AC3E}">
        <p14:creationId xmlns:p14="http://schemas.microsoft.com/office/powerpoint/2010/main" val="27521086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Iteration</a:t>
            </a:r>
            <a:endParaRPr lang="en-US" dirty="0"/>
          </a:p>
        </p:txBody>
      </p:sp>
      <p:sp>
        <p:nvSpPr>
          <p:cNvPr id="3" name="Content Placeholder 2"/>
          <p:cNvSpPr>
            <a:spLocks noGrp="1"/>
          </p:cNvSpPr>
          <p:nvPr>
            <p:ph idx="1"/>
          </p:nvPr>
        </p:nvSpPr>
        <p:spPr>
          <a:xfrm>
            <a:off x="1110744" y="2638045"/>
            <a:ext cx="6928355" cy="3101983"/>
          </a:xfrm>
        </p:spPr>
        <p:txBody>
          <a:bodyPr/>
          <a:lstStyle/>
          <a:p>
            <a:r>
              <a:rPr lang="en-US" dirty="0">
                <a:latin typeface="Times New Roman" panose="02020603050405020304" pitchFamily="18" charset="0"/>
                <a:cs typeface="Times New Roman" panose="02020603050405020304" pitchFamily="18" charset="0"/>
              </a:rPr>
              <a:t>Forward propagation, weight updating, backpropagation, and loss computation are all repeated numerous times across the dataset. This iterative approach gradually lowers the loss and improves the accuracy of the network's predictions.</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Neural networks can perform better on tasks like classification, regression, and other predictive modeling by adjusting their parameters to more accurately represent the relationships in the data.</a:t>
            </a:r>
          </a:p>
        </p:txBody>
      </p:sp>
    </p:spTree>
    <p:extLst>
      <p:ext uri="{BB962C8B-B14F-4D97-AF65-F5344CB8AC3E}">
        <p14:creationId xmlns:p14="http://schemas.microsoft.com/office/powerpoint/2010/main" val="2891589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Refinement</a:t>
            </a:r>
            <a:endParaRPr dirty="0"/>
          </a:p>
        </p:txBody>
      </p:sp>
      <p:sp>
        <p:nvSpPr>
          <p:cNvPr id="3" name="Content Placeholder 2"/>
          <p:cNvSpPr>
            <a:spLocks noGrp="1"/>
          </p:cNvSpPr>
          <p:nvPr>
            <p:ph idx="1"/>
          </p:nvPr>
        </p:nvSpPr>
        <p:spPr>
          <a:xfrm>
            <a:off x="1112304" y="2924916"/>
            <a:ext cx="7242802" cy="3101983"/>
          </a:xfrm>
        </p:spPr>
        <p:txBody>
          <a:bodyPr>
            <a:normAutofit/>
          </a:bodyPr>
          <a:lstStyle/>
          <a:p>
            <a:r>
              <a:rPr lang="en-US" dirty="0" smtClean="0">
                <a:latin typeface="Times New Roman" panose="02020603050405020304" pitchFamily="18" charset="0"/>
                <a:cs typeface="Times New Roman" panose="02020603050405020304" pitchFamily="18" charset="0"/>
              </a:rPr>
              <a:t>Early wildfire </a:t>
            </a:r>
            <a:r>
              <a:rPr lang="en-US" dirty="0">
                <a:latin typeface="Times New Roman" panose="02020603050405020304" pitchFamily="18" charset="0"/>
                <a:cs typeface="Times New Roman" panose="02020603050405020304" pitchFamily="18" charset="0"/>
              </a:rPr>
              <a:t>indication directly from a live video stream by performing low-latency, low-power per-pixel classification on an FPGA is targeted.        	- wildfires cause severe environmental and economic damage 	 -early detection is essential to minimizing their spread. </a:t>
            </a:r>
            <a:endParaRPr lang="en-US" dirty="0" smtClean="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Compared to </a:t>
            </a:r>
            <a:r>
              <a:rPr lang="en-US" dirty="0" smtClean="0">
                <a:latin typeface="Times New Roman" panose="02020603050405020304" pitchFamily="18" charset="0"/>
                <a:cs typeface="Times New Roman" panose="02020603050405020304" pitchFamily="18" charset="0"/>
              </a:rPr>
              <a:t>cloud-based </a:t>
            </a:r>
            <a:r>
              <a:rPr lang="en-US" dirty="0">
                <a:latin typeface="Times New Roman" panose="02020603050405020304" pitchFamily="18" charset="0"/>
                <a:cs typeface="Times New Roman" panose="02020603050405020304" pitchFamily="18" charset="0"/>
              </a:rPr>
              <a:t>or GPU-based AI solutions, an FPGA edge implementation can avoid the high latency and power draw that often limit real-time deployment.</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2240" y="360721"/>
            <a:ext cx="6939520" cy="1645920"/>
          </a:xfrm>
        </p:spPr>
        <p:txBody>
          <a:bodyPr/>
          <a:lstStyle/>
          <a:p>
            <a:r>
              <a:rPr lang="en-US" dirty="0"/>
              <a:t>architecture</a:t>
            </a:r>
            <a:endParaRPr dirty="0"/>
          </a:p>
        </p:txBody>
      </p:sp>
      <p:sp>
        <p:nvSpPr>
          <p:cNvPr id="3" name="Subtitle 2"/>
          <p:cNvSpPr>
            <a:spLocks noGrp="1"/>
          </p:cNvSpPr>
          <p:nvPr>
            <p:ph type="subTitle" idx="1"/>
          </p:nvPr>
        </p:nvSpPr>
        <p:spPr>
          <a:xfrm>
            <a:off x="129842" y="2140524"/>
            <a:ext cx="5101209" cy="1239894"/>
          </a:xfrm>
        </p:spPr>
        <p:txBody>
          <a:bodyPr/>
          <a:lstStyle/>
          <a:p>
            <a:r>
              <a:rPr lang="en-US" dirty="0">
                <a:latin typeface="Times New Roman" panose="02020603050405020304" pitchFamily="18" charset="0"/>
                <a:cs typeface="Times New Roman" panose="02020603050405020304" pitchFamily="18" charset="0"/>
              </a:rPr>
              <a:t>The architecture used is a </a:t>
            </a:r>
            <a:r>
              <a:rPr dirty="0">
                <a:latin typeface="Times New Roman" panose="02020603050405020304" pitchFamily="18" charset="0"/>
                <a:cs typeface="Times New Roman" panose="02020603050405020304" pitchFamily="18" charset="0"/>
              </a:rPr>
              <a:t>3–7–2 </a:t>
            </a:r>
            <a:r>
              <a:rPr dirty="0" smtClean="0">
                <a:latin typeface="Times New Roman" panose="02020603050405020304" pitchFamily="18" charset="0"/>
                <a:cs typeface="Times New Roman" panose="02020603050405020304" pitchFamily="18" charset="0"/>
              </a:rPr>
              <a:t>M</a:t>
            </a:r>
            <a:r>
              <a:rPr lang="en-US" dirty="0" smtClean="0">
                <a:latin typeface="Times New Roman" panose="02020603050405020304" pitchFamily="18" charset="0"/>
                <a:cs typeface="Times New Roman" panose="02020603050405020304" pitchFamily="18" charset="0"/>
              </a:rPr>
              <a:t>ulti </a:t>
            </a:r>
            <a:r>
              <a:rPr dirty="0" smtClean="0">
                <a:latin typeface="Times New Roman" panose="02020603050405020304" pitchFamily="18" charset="0"/>
                <a:cs typeface="Times New Roman" panose="02020603050405020304" pitchFamily="18" charset="0"/>
              </a:rPr>
              <a:t>L</a:t>
            </a:r>
            <a:r>
              <a:rPr lang="en-US" dirty="0" smtClean="0">
                <a:latin typeface="Times New Roman" panose="02020603050405020304" pitchFamily="18" charset="0"/>
                <a:cs typeface="Times New Roman" panose="02020603050405020304" pitchFamily="18" charset="0"/>
              </a:rPr>
              <a:t>ayer Perceptron (MLP) </a:t>
            </a:r>
            <a:r>
              <a:rPr lang="en-US" dirty="0">
                <a:latin typeface="Times New Roman" panose="02020603050405020304" pitchFamily="18" charset="0"/>
                <a:cs typeface="Times New Roman" panose="02020603050405020304" pitchFamily="18" charset="0"/>
              </a:rPr>
              <a:t>in </a:t>
            </a:r>
            <a:r>
              <a:rPr lang="en-US" dirty="0" smtClean="0">
                <a:latin typeface="Times New Roman" panose="02020603050405020304" pitchFamily="18" charset="0"/>
                <a:cs typeface="Times New Roman" panose="02020603050405020304" pitchFamily="18" charset="0"/>
              </a:rPr>
              <a:t>Python </a:t>
            </a:r>
            <a:r>
              <a:rPr lang="en-US" dirty="0">
                <a:latin typeface="Times New Roman" panose="02020603050405020304" pitchFamily="18" charset="0"/>
                <a:cs typeface="Times New Roman" panose="02020603050405020304" pitchFamily="18" charset="0"/>
              </a:rPr>
              <a:t>for training and then in VHDL for inference</a:t>
            </a:r>
            <a:endParaRPr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4329953" y="3350245"/>
            <a:ext cx="4398310" cy="2814918"/>
          </a:xfrm>
          <a:prstGeom prst="rect">
            <a:avLst/>
          </a:prstGeom>
        </p:spPr>
      </p:pic>
      <p:sp>
        <p:nvSpPr>
          <p:cNvPr id="5" name="TextBox 4"/>
          <p:cNvSpPr txBox="1"/>
          <p:nvPr/>
        </p:nvSpPr>
        <p:spPr>
          <a:xfrm>
            <a:off x="286871" y="3110753"/>
            <a:ext cx="3684494" cy="3046988"/>
          </a:xfrm>
          <a:prstGeom prst="rect">
            <a:avLst/>
          </a:prstGeom>
          <a:noFill/>
        </p:spPr>
        <p:txBody>
          <a:bodyPr wrap="square" rtlCol="0">
            <a:spAutoFit/>
          </a:bodyPr>
          <a:lstStyle/>
          <a:p>
            <a:r>
              <a:rPr lang="en-US" sz="1200" dirty="0">
                <a:latin typeface="Times New Roman" panose="02020603050405020304" pitchFamily="18" charset="0"/>
                <a:cs typeface="Times New Roman" panose="02020603050405020304" pitchFamily="18" charset="0"/>
              </a:rPr>
              <a:t>class MLP:</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def</a:t>
            </a:r>
            <a:r>
              <a:rPr lang="en-US" sz="1200" dirty="0">
                <a:latin typeface="Times New Roman" panose="02020603050405020304" pitchFamily="18" charset="0"/>
                <a:cs typeface="Times New Roman" panose="02020603050405020304" pitchFamily="18" charset="0"/>
              </a:rPr>
              <a:t> __</a:t>
            </a:r>
            <a:r>
              <a:rPr lang="en-US" sz="1200" dirty="0" err="1">
                <a:latin typeface="Times New Roman" panose="02020603050405020304" pitchFamily="18" charset="0"/>
                <a:cs typeface="Times New Roman" panose="02020603050405020304" pitchFamily="18" charset="0"/>
              </a:rPr>
              <a:t>init</a:t>
            </a:r>
            <a:r>
              <a:rPr lang="en-US" sz="1200" dirty="0">
                <a:latin typeface="Times New Roman" panose="02020603050405020304" pitchFamily="18" charset="0"/>
                <a:cs typeface="Times New Roman" panose="02020603050405020304" pitchFamily="18" charset="0"/>
              </a:rPr>
              <a:t>__(self, </a:t>
            </a:r>
            <a:r>
              <a:rPr lang="en-US" sz="1200" dirty="0" err="1">
                <a:latin typeface="Times New Roman" panose="02020603050405020304" pitchFamily="18" charset="0"/>
                <a:cs typeface="Times New Roman" panose="02020603050405020304" pitchFamily="18" charset="0"/>
              </a:rPr>
              <a:t>in_dim</a:t>
            </a:r>
            <a:r>
              <a:rPr lang="en-US" sz="1200" dirty="0">
                <a:latin typeface="Times New Roman" panose="02020603050405020304" pitchFamily="18" charset="0"/>
                <a:cs typeface="Times New Roman" panose="02020603050405020304" pitchFamily="18" charset="0"/>
              </a:rPr>
              <a:t>, hidden, </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act="sigmoid"):</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rng</a:t>
            </a:r>
            <a:r>
              <a:rPr lang="en-US" sz="1200" dirty="0">
                <a:latin typeface="Times New Roman" panose="02020603050405020304" pitchFamily="18" charset="0"/>
                <a:cs typeface="Times New Roman" panose="02020603050405020304" pitchFamily="18" charset="0"/>
              </a:rPr>
              <a:t> = </a:t>
            </a:r>
            <a:r>
              <a:rPr lang="en-US" sz="1200" dirty="0" err="1">
                <a:latin typeface="Times New Roman" panose="02020603050405020304" pitchFamily="18" charset="0"/>
                <a:cs typeface="Times New Roman" panose="02020603050405020304" pitchFamily="18" charset="0"/>
              </a:rPr>
              <a:t>np.random.default_rng</a:t>
            </a:r>
            <a:r>
              <a:rPr lang="en-US" sz="1200" dirty="0">
                <a:latin typeface="Times New Roman" panose="02020603050405020304" pitchFamily="18" charset="0"/>
                <a:cs typeface="Times New Roman" panose="02020603050405020304" pitchFamily="18" charset="0"/>
              </a:rPr>
              <a:t>(42)</a:t>
            </a:r>
          </a:p>
          <a:p>
            <a:r>
              <a:rPr lang="en-US" sz="1200" dirty="0">
                <a:latin typeface="Times New Roman" panose="02020603050405020304" pitchFamily="18" charset="0"/>
                <a:cs typeface="Times New Roman" panose="02020603050405020304" pitchFamily="18" charset="0"/>
              </a:rPr>
              <a:t>        self.W1 = </a:t>
            </a:r>
            <a:r>
              <a:rPr lang="en-US" sz="1200" dirty="0" err="1">
                <a:latin typeface="Times New Roman" panose="02020603050405020304" pitchFamily="18" charset="0"/>
                <a:cs typeface="Times New Roman" panose="02020603050405020304" pitchFamily="18" charset="0"/>
              </a:rPr>
              <a:t>rng.normal</a:t>
            </a:r>
            <a:r>
              <a:rPr lang="en-US" sz="1200" dirty="0">
                <a:latin typeface="Times New Roman" panose="02020603050405020304" pitchFamily="18" charset="0"/>
                <a:cs typeface="Times New Roman" panose="02020603050405020304" pitchFamily="18" charset="0"/>
              </a:rPr>
              <a:t>(0, 0.2, (hidden, </a:t>
            </a:r>
            <a:r>
              <a:rPr lang="en-US" sz="1200" dirty="0" err="1">
                <a:latin typeface="Times New Roman" panose="02020603050405020304" pitchFamily="18" charset="0"/>
                <a:cs typeface="Times New Roman" panose="02020603050405020304" pitchFamily="18" charset="0"/>
              </a:rPr>
              <a:t>in_dim</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astype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self.b1 = </a:t>
            </a:r>
            <a:r>
              <a:rPr lang="en-US" sz="1200" dirty="0" err="1">
                <a:latin typeface="Times New Roman" panose="02020603050405020304" pitchFamily="18" charset="0"/>
                <a:cs typeface="Times New Roman" panose="02020603050405020304" pitchFamily="18" charset="0"/>
              </a:rPr>
              <a:t>np.zeros</a:t>
            </a:r>
            <a:r>
              <a:rPr lang="en-US" sz="1200" dirty="0">
                <a:latin typeface="Times New Roman" panose="02020603050405020304" pitchFamily="18" charset="0"/>
                <a:cs typeface="Times New Roman" panose="02020603050405020304" pitchFamily="18" charset="0"/>
              </a:rPr>
              <a:t>((hidden,), </a:t>
            </a:r>
            <a:r>
              <a:rPr lang="en-US" sz="1200" dirty="0" err="1">
                <a:latin typeface="Times New Roman" panose="02020603050405020304" pitchFamily="18" charset="0"/>
                <a:cs typeface="Times New Roman" panose="02020603050405020304" pitchFamily="18" charset="0"/>
              </a:rPr>
              <a:t>dtype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self.W2 = </a:t>
            </a:r>
            <a:r>
              <a:rPr lang="en-US" sz="1200" dirty="0" err="1">
                <a:latin typeface="Times New Roman" panose="02020603050405020304" pitchFamily="18" charset="0"/>
                <a:cs typeface="Times New Roman" panose="02020603050405020304" pitchFamily="18" charset="0"/>
              </a:rPr>
              <a:t>rng.normal</a:t>
            </a:r>
            <a:r>
              <a:rPr lang="en-US" sz="1200" dirty="0">
                <a:latin typeface="Times New Roman" panose="02020603050405020304" pitchFamily="18" charset="0"/>
                <a:cs typeface="Times New Roman" panose="02020603050405020304" pitchFamily="18" charset="0"/>
              </a:rPr>
              <a:t>(0, 0.2, (</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hidden)).</a:t>
            </a:r>
            <a:r>
              <a:rPr lang="en-US" sz="1200" dirty="0" err="1">
                <a:latin typeface="Times New Roman" panose="02020603050405020304" pitchFamily="18" charset="0"/>
                <a:cs typeface="Times New Roman" panose="02020603050405020304" pitchFamily="18" charset="0"/>
              </a:rPr>
              <a:t>astype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self.b2 = </a:t>
            </a:r>
            <a:r>
              <a:rPr lang="en-US" sz="1200" dirty="0" err="1">
                <a:latin typeface="Times New Roman" panose="02020603050405020304" pitchFamily="18" charset="0"/>
                <a:cs typeface="Times New Roman" panose="02020603050405020304" pitchFamily="18" charset="0"/>
              </a:rPr>
              <a:t>np.zeros</a:t>
            </a:r>
            <a:r>
              <a:rPr lang="en-US" sz="1200" dirty="0">
                <a:latin typeface="Times New Roman" panose="02020603050405020304" pitchFamily="18" charset="0"/>
                <a:cs typeface="Times New Roman" panose="02020603050405020304" pitchFamily="18" charset="0"/>
              </a:rPr>
              <a:t>((</a:t>
            </a:r>
            <a:r>
              <a:rPr lang="en-US" sz="1200" dirty="0" err="1">
                <a:latin typeface="Times New Roman" panose="02020603050405020304" pitchFamily="18" charset="0"/>
                <a:cs typeface="Times New Roman" panose="02020603050405020304" pitchFamily="18" charset="0"/>
              </a:rPr>
              <a:t>out_dim</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dtype</a:t>
            </a:r>
            <a:r>
              <a:rPr lang="en-US" sz="1200" dirty="0">
                <a:latin typeface="Times New Roman" panose="02020603050405020304" pitchFamily="18" charset="0"/>
                <a:cs typeface="Times New Roman" panose="02020603050405020304" pitchFamily="18" charset="0"/>
              </a:rPr>
              <a:t>=np.float32)</a:t>
            </a: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self.act</a:t>
            </a:r>
            <a:r>
              <a:rPr lang="en-US" sz="1200" dirty="0">
                <a:latin typeface="Times New Roman" panose="02020603050405020304" pitchFamily="18" charset="0"/>
                <a:cs typeface="Times New Roman" panose="02020603050405020304" pitchFamily="18" charset="0"/>
              </a:rPr>
              <a:t> = sigmoid if act == "sigmoid" else </a:t>
            </a:r>
            <a:r>
              <a:rPr lang="en-US" sz="1200" dirty="0" err="1">
                <a:latin typeface="Times New Roman" panose="02020603050405020304" pitchFamily="18" charset="0"/>
                <a:cs typeface="Times New Roman" panose="02020603050405020304" pitchFamily="18" charset="0"/>
              </a:rPr>
              <a:t>relu</a:t>
            </a:r>
            <a:endParaRPr lang="en-US" sz="1200" dirty="0">
              <a:latin typeface="Times New Roman" panose="02020603050405020304" pitchFamily="18" charset="0"/>
              <a:cs typeface="Times New Roman" panose="02020603050405020304" pitchFamily="18" charset="0"/>
            </a:endParaRPr>
          </a:p>
          <a:p>
            <a:endParaRPr lang="en-US" sz="1200" dirty="0">
              <a:latin typeface="Times New Roman" panose="02020603050405020304" pitchFamily="18" charset="0"/>
              <a:cs typeface="Times New Roman" panose="02020603050405020304" pitchFamily="18" charset="0"/>
            </a:endParaRPr>
          </a:p>
          <a:p>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def</a:t>
            </a:r>
            <a:r>
              <a:rPr lang="en-US" sz="1200" dirty="0">
                <a:latin typeface="Times New Roman" panose="02020603050405020304" pitchFamily="18" charset="0"/>
                <a:cs typeface="Times New Roman" panose="02020603050405020304" pitchFamily="18" charset="0"/>
              </a:rPr>
              <a:t> forward(self, x):</a:t>
            </a:r>
          </a:p>
          <a:p>
            <a:r>
              <a:rPr lang="en-US" sz="1200" dirty="0">
                <a:latin typeface="Times New Roman" panose="02020603050405020304" pitchFamily="18" charset="0"/>
                <a:cs typeface="Times New Roman" panose="02020603050405020304" pitchFamily="18" charset="0"/>
              </a:rPr>
              <a:t>        h = </a:t>
            </a:r>
            <a:r>
              <a:rPr lang="en-US" sz="1200" dirty="0" err="1">
                <a:latin typeface="Times New Roman" panose="02020603050405020304" pitchFamily="18" charset="0"/>
                <a:cs typeface="Times New Roman" panose="02020603050405020304" pitchFamily="18" charset="0"/>
              </a:rPr>
              <a:t>self.act</a:t>
            </a:r>
            <a:r>
              <a:rPr lang="en-US" sz="1200" dirty="0">
                <a:latin typeface="Times New Roman" panose="02020603050405020304" pitchFamily="18" charset="0"/>
                <a:cs typeface="Times New Roman" panose="02020603050405020304" pitchFamily="18" charset="0"/>
              </a:rPr>
              <a:t>(x @ self.W1.T + self.b1)</a:t>
            </a:r>
          </a:p>
          <a:p>
            <a:r>
              <a:rPr lang="en-US" sz="1200" dirty="0">
                <a:latin typeface="Times New Roman" panose="02020603050405020304" pitchFamily="18" charset="0"/>
                <a:cs typeface="Times New Roman" panose="02020603050405020304" pitchFamily="18" charset="0"/>
              </a:rPr>
              <a:t>        z = h @ self.W2.T + self.b2</a:t>
            </a:r>
          </a:p>
          <a:p>
            <a:r>
              <a:rPr lang="en-US" sz="1200" dirty="0">
                <a:latin typeface="Times New Roman" panose="02020603050405020304" pitchFamily="18" charset="0"/>
                <a:cs typeface="Times New Roman" panose="02020603050405020304" pitchFamily="18" charset="0"/>
              </a:rPr>
              <a:t>        return z, h</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23664"/>
            <a:ext cx="5937755" cy="1188720"/>
          </a:xfrm>
        </p:spPr>
        <p:txBody>
          <a:bodyPr>
            <a:normAutofit/>
          </a:bodyPr>
          <a:lstStyle/>
          <a:p>
            <a:r>
              <a:rPr dirty="0"/>
              <a:t>Neural Network Topology and Quantization</a:t>
            </a:r>
          </a:p>
        </p:txBody>
      </p:sp>
      <p:cxnSp>
        <p:nvCxnSpPr>
          <p:cNvPr id="15" name="Connector 1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14630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206240" y="0"/>
            <a:ext cx="2194560" cy="0"/>
          </a:xfrm>
          <a:prstGeom prst="line">
            <a:avLst/>
          </a:prstGeom>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3484318" y="2473296"/>
            <a:ext cx="5220412" cy="2031325"/>
          </a:xfrm>
          <a:prstGeom prst="rect">
            <a:avLst/>
          </a:prstGeom>
          <a:noFill/>
        </p:spPr>
        <p:txBody>
          <a:bodyPr wrap="square">
            <a:spAutoFit/>
          </a:bodyPr>
          <a:lstStyle/>
          <a:p>
            <a:r>
              <a:rPr dirty="0">
                <a:latin typeface="Times New Roman" panose="02020603050405020304" pitchFamily="18" charset="0"/>
                <a:cs typeface="Times New Roman" panose="02020603050405020304" pitchFamily="18" charset="0"/>
              </a:rPr>
              <a:t>Fixed-point design:</a:t>
            </a:r>
          </a:p>
          <a:p>
            <a:r>
              <a:rPr dirty="0">
                <a:latin typeface="Times New Roman" panose="02020603050405020304" pitchFamily="18" charset="0"/>
                <a:cs typeface="Times New Roman" panose="02020603050405020304" pitchFamily="18" charset="0"/>
              </a:rPr>
              <a:t>- Inputs: 8-bit RGB (0..255) normalized in integer domain</a:t>
            </a:r>
          </a:p>
          <a:p>
            <a:r>
              <a:rPr dirty="0">
                <a:latin typeface="Times New Roman" panose="02020603050405020304" pitchFamily="18" charset="0"/>
                <a:cs typeface="Times New Roman" panose="02020603050405020304" pitchFamily="18" charset="0"/>
              </a:rPr>
              <a:t>- Weights/bias: signed </a:t>
            </a:r>
            <a:r>
              <a:rPr dirty="0" err="1">
                <a:latin typeface="Times New Roman" panose="02020603050405020304" pitchFamily="18" charset="0"/>
                <a:cs typeface="Times New Roman" panose="02020603050405020304" pitchFamily="18" charset="0"/>
              </a:rPr>
              <a:t>ints</a:t>
            </a:r>
            <a:r>
              <a:rPr dirty="0">
                <a:latin typeface="Times New Roman" panose="02020603050405020304" pitchFamily="18" charset="0"/>
                <a:cs typeface="Times New Roman" panose="02020603050405020304" pitchFamily="18" charset="0"/>
              </a:rPr>
              <a:t> (exported from Python)</a:t>
            </a:r>
          </a:p>
          <a:p>
            <a:r>
              <a:rPr dirty="0">
                <a:latin typeface="Times New Roman" panose="02020603050405020304" pitchFamily="18" charset="0"/>
                <a:cs typeface="Times New Roman" panose="02020603050405020304" pitchFamily="18" charset="0"/>
              </a:rPr>
              <a:t>- Activation: 12-bit address -&gt; 8-bit output ROM (sigmoid </a:t>
            </a:r>
            <a:r>
              <a:rPr dirty="0" smtClean="0">
                <a:latin typeface="Times New Roman" panose="02020603050405020304" pitchFamily="18" charset="0"/>
                <a:cs typeface="Times New Roman" panose="02020603050405020304" pitchFamily="18" charset="0"/>
              </a:rPr>
              <a:t>L</a:t>
            </a:r>
            <a:r>
              <a:rPr lang="en-US" dirty="0" smtClean="0">
                <a:latin typeface="Times New Roman" panose="02020603050405020304" pitchFamily="18" charset="0"/>
                <a:cs typeface="Times New Roman" panose="02020603050405020304" pitchFamily="18" charset="0"/>
              </a:rPr>
              <a:t>ook </a:t>
            </a:r>
            <a:r>
              <a:rPr dirty="0" smtClean="0">
                <a:latin typeface="Times New Roman" panose="02020603050405020304" pitchFamily="18" charset="0"/>
                <a:cs typeface="Times New Roman" panose="02020603050405020304" pitchFamily="18" charset="0"/>
              </a:rPr>
              <a:t>U</a:t>
            </a:r>
            <a:r>
              <a:rPr lang="en-US" dirty="0" smtClean="0">
                <a:latin typeface="Times New Roman" panose="02020603050405020304" pitchFamily="18" charset="0"/>
                <a:cs typeface="Times New Roman" panose="02020603050405020304" pitchFamily="18" charset="0"/>
              </a:rPr>
              <a:t>p </a:t>
            </a:r>
            <a:r>
              <a:rPr dirty="0" smtClean="0">
                <a:latin typeface="Times New Roman" panose="02020603050405020304" pitchFamily="18" charset="0"/>
                <a:cs typeface="Times New Roman" panose="02020603050405020304" pitchFamily="18" charset="0"/>
              </a:rPr>
              <a:t>T</a:t>
            </a:r>
            <a:r>
              <a:rPr lang="en-US" dirty="0" smtClean="0">
                <a:latin typeface="Times New Roman" panose="02020603050405020304" pitchFamily="18" charset="0"/>
                <a:cs typeface="Times New Roman" panose="02020603050405020304" pitchFamily="18" charset="0"/>
              </a:rPr>
              <a:t>able - LUT</a:t>
            </a:r>
            <a:r>
              <a:rPr dirty="0" smtClean="0">
                <a:latin typeface="Times New Roman" panose="02020603050405020304" pitchFamily="18" charset="0"/>
                <a:cs typeface="Times New Roman" panose="02020603050405020304" pitchFamily="18" charset="0"/>
              </a:rPr>
              <a:t>)</a:t>
            </a:r>
            <a:endParaRPr dirty="0">
              <a:latin typeface="Times New Roman" panose="02020603050405020304" pitchFamily="18" charset="0"/>
              <a:cs typeface="Times New Roman" panose="02020603050405020304" pitchFamily="18" charset="0"/>
            </a:endParaRPr>
          </a:p>
          <a:p>
            <a:r>
              <a:rPr dirty="0">
                <a:latin typeface="Times New Roman" panose="02020603050405020304" pitchFamily="18" charset="0"/>
                <a:cs typeface="Times New Roman" panose="02020603050405020304" pitchFamily="18" charset="0"/>
              </a:rPr>
              <a:t>- Total </a:t>
            </a:r>
            <a:r>
              <a:rPr dirty="0" err="1">
                <a:latin typeface="Times New Roman" panose="02020603050405020304" pitchFamily="18" charset="0"/>
                <a:cs typeface="Times New Roman" panose="02020603050405020304" pitchFamily="18" charset="0"/>
              </a:rPr>
              <a:t>params</a:t>
            </a:r>
            <a:r>
              <a:rPr dirty="0">
                <a:latin typeface="Times New Roman" panose="02020603050405020304" pitchFamily="18" charset="0"/>
                <a:cs typeface="Times New Roman" panose="02020603050405020304" pitchFamily="18" charset="0"/>
              </a:rPr>
              <a:t>: 44 </a:t>
            </a:r>
            <a:r>
              <a:rPr dirty="0" err="1">
                <a:latin typeface="Times New Roman" panose="02020603050405020304" pitchFamily="18" charset="0"/>
                <a:cs typeface="Times New Roman" panose="02020603050405020304" pitchFamily="18" charset="0"/>
              </a:rPr>
              <a:t>ints</a:t>
            </a:r>
            <a:r>
              <a:rPr dirty="0">
                <a:latin typeface="Times New Roman" panose="02020603050405020304" pitchFamily="18" charset="0"/>
                <a:cs typeface="Times New Roman" panose="02020603050405020304" pitchFamily="18" charset="0"/>
              </a:rPr>
              <a:t> (3x7 + 7 bias + 7x2 + 2 bias)</a:t>
            </a:r>
          </a:p>
        </p:txBody>
      </p:sp>
      <p:pic>
        <p:nvPicPr>
          <p:cNvPr id="54" name="Picture 5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825" y="1636047"/>
            <a:ext cx="2977622" cy="429409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Fixed-Point and LUT Activation</a:t>
            </a:r>
          </a:p>
        </p:txBody>
      </p:sp>
      <p:sp>
        <p:nvSpPr>
          <p:cNvPr id="3" name="Content Placeholder 2"/>
          <p:cNvSpPr>
            <a:spLocks noGrp="1"/>
          </p:cNvSpPr>
          <p:nvPr>
            <p:ph idx="1"/>
          </p:nvPr>
        </p:nvSpPr>
        <p:spPr/>
        <p:txBody>
          <a:bodyPr/>
          <a:lstStyle/>
          <a:p>
            <a:pPr>
              <a:lnSpc>
                <a:spcPct val="300000"/>
              </a:lnSpc>
            </a:pPr>
            <a:r>
              <a:rPr dirty="0">
                <a:latin typeface="Times New Roman" panose="02020603050405020304" pitchFamily="18" charset="0"/>
                <a:cs typeface="Times New Roman" panose="02020603050405020304" pitchFamily="18" charset="0"/>
              </a:rPr>
              <a:t>Weights/bias quantized to integers, packed in VHDL arrays</a:t>
            </a:r>
          </a:p>
          <a:p>
            <a:pPr>
              <a:lnSpc>
                <a:spcPct val="300000"/>
              </a:lnSpc>
            </a:pPr>
            <a:r>
              <a:rPr dirty="0">
                <a:latin typeface="Times New Roman" panose="02020603050405020304" pitchFamily="18" charset="0"/>
                <a:cs typeface="Times New Roman" panose="02020603050405020304" pitchFamily="18" charset="0"/>
              </a:rPr>
              <a:t>Sigmoid implemented as ROM (12-bit address)</a:t>
            </a:r>
            <a:endParaRPr lang="en-US" dirty="0">
              <a:latin typeface="Times New Roman" panose="02020603050405020304" pitchFamily="18" charset="0"/>
              <a:cs typeface="Times New Roman" panose="02020603050405020304" pitchFamily="18" charset="0"/>
            </a:endParaRPr>
          </a:p>
          <a:p>
            <a:pPr>
              <a:lnSpc>
                <a:spcPct val="300000"/>
              </a:lnSpc>
            </a:pPr>
            <a:r>
              <a:rPr dirty="0">
                <a:latin typeface="Times New Roman" panose="02020603050405020304" pitchFamily="18" charset="0"/>
                <a:cs typeface="Times New Roman" panose="02020603050405020304" pitchFamily="18" charset="0"/>
              </a:rPr>
              <a:t>Neuron pipeline: parallel multipliers + accumulator + LUT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Dataset and Sampling</a:t>
            </a:r>
          </a:p>
        </p:txBody>
      </p:sp>
      <p:sp>
        <p:nvSpPr>
          <p:cNvPr id="3" name="Content Placeholder 2"/>
          <p:cNvSpPr>
            <a:spLocks noGrp="1"/>
          </p:cNvSpPr>
          <p:nvPr>
            <p:ph idx="1"/>
          </p:nvPr>
        </p:nvSpPr>
        <p:spPr/>
        <p:txBody>
          <a:bodyPr>
            <a:noAutofit/>
          </a:bodyPr>
          <a:lstStyle/>
          <a:p>
            <a:pPr>
              <a:lnSpc>
                <a:spcPct val="200000"/>
              </a:lnSpc>
            </a:pPr>
            <a:r>
              <a:rPr dirty="0">
                <a:latin typeface="Times New Roman" panose="02020603050405020304" pitchFamily="18" charset="0"/>
                <a:cs typeface="Times New Roman" panose="02020603050405020304" pitchFamily="18" charset="0"/>
              </a:rPr>
              <a:t>Source: wildfire images + segmentation masks (where available)</a:t>
            </a:r>
          </a:p>
          <a:p>
            <a:pPr lvl="1">
              <a:lnSpc>
                <a:spcPct val="200000"/>
              </a:lnSpc>
            </a:pPr>
            <a:r>
              <a:rPr dirty="0">
                <a:latin typeface="Times New Roman" panose="02020603050405020304" pitchFamily="18" charset="0"/>
                <a:cs typeface="Times New Roman" panose="02020603050405020304" pitchFamily="18" charset="0"/>
              </a:rPr>
              <a:t>Per-image random pixel sampling; balanced </a:t>
            </a:r>
            <a:r>
              <a:rPr dirty="0" err="1">
                <a:latin typeface="Times New Roman" panose="02020603050405020304" pitchFamily="18" charset="0"/>
                <a:cs typeface="Times New Roman" panose="02020603050405020304" pitchFamily="18" charset="0"/>
              </a:rPr>
              <a:t>pos</a:t>
            </a:r>
            <a:r>
              <a:rPr dirty="0">
                <a:latin typeface="Times New Roman" panose="02020603050405020304" pitchFamily="18" charset="0"/>
                <a:cs typeface="Times New Roman" panose="02020603050405020304" pitchFamily="18" charset="0"/>
              </a:rPr>
              <a:t>/</a:t>
            </a:r>
            <a:r>
              <a:rPr dirty="0" err="1">
                <a:latin typeface="Times New Roman" panose="02020603050405020304" pitchFamily="18" charset="0"/>
                <a:cs typeface="Times New Roman" panose="02020603050405020304" pitchFamily="18" charset="0"/>
              </a:rPr>
              <a:t>neg</a:t>
            </a:r>
            <a:r>
              <a:rPr dirty="0">
                <a:latin typeface="Times New Roman" panose="02020603050405020304" pitchFamily="18" charset="0"/>
                <a:cs typeface="Times New Roman" panose="02020603050405020304" pitchFamily="18" charset="0"/>
              </a:rPr>
              <a:t> when</a:t>
            </a:r>
            <a:r>
              <a:rPr lang="en-US" dirty="0">
                <a:latin typeface="Times New Roman" panose="02020603050405020304" pitchFamily="18" charset="0"/>
                <a:cs typeface="Times New Roman" panose="02020603050405020304" pitchFamily="18" charset="0"/>
              </a:rPr>
              <a:t> </a:t>
            </a:r>
            <a:r>
              <a:rPr dirty="0">
                <a:latin typeface="Times New Roman" panose="02020603050405020304" pitchFamily="18" charset="0"/>
                <a:cs typeface="Times New Roman" panose="02020603050405020304" pitchFamily="18" charset="0"/>
              </a:rPr>
              <a:t>mask exists</a:t>
            </a:r>
          </a:p>
          <a:p>
            <a:pPr lvl="1">
              <a:lnSpc>
                <a:spcPct val="200000"/>
              </a:lnSpc>
            </a:pPr>
            <a:r>
              <a:rPr dirty="0">
                <a:latin typeface="Times New Roman" panose="02020603050405020304" pitchFamily="18" charset="0"/>
                <a:cs typeface="Times New Roman" panose="02020603050405020304" pitchFamily="18" charset="0"/>
              </a:rPr>
              <a:t>Features: raw RGB (8-bit each); Labels: fire vs not-fire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Experimental Results</a:t>
            </a:r>
          </a:p>
        </p:txBody>
      </p:sp>
      <p:sp>
        <p:nvSpPr>
          <p:cNvPr id="3" name="Content Placeholder 2"/>
          <p:cNvSpPr>
            <a:spLocks noGrp="1"/>
          </p:cNvSpPr>
          <p:nvPr>
            <p:ph idx="1"/>
          </p:nvPr>
        </p:nvSpPr>
        <p:spPr/>
        <p:txBody>
          <a:bodyPr/>
          <a:lstStyle/>
          <a:p>
            <a:r>
              <a:rPr lang="en-US" dirty="0"/>
              <a:t>Software evaluation</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3200702"/>
            <a:ext cx="3657298" cy="3657298"/>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72000" y="3200702"/>
            <a:ext cx="4571622" cy="3657298"/>
          </a:xfrm>
          <a:prstGeom prst="rect">
            <a:avLst/>
          </a:prstGeom>
        </p:spPr>
      </p:pic>
    </p:spTree>
    <p:extLst>
      <p:ext uri="{BB962C8B-B14F-4D97-AF65-F5344CB8AC3E}">
        <p14:creationId xmlns:p14="http://schemas.microsoft.com/office/powerpoint/2010/main" val="559425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14194"/>
            <a:ext cx="5937755" cy="1188720"/>
          </a:xfrm>
        </p:spPr>
        <p:txBody>
          <a:bodyPr/>
          <a:lstStyle/>
          <a:p>
            <a:r>
              <a:t>Dataset Examples</a:t>
            </a:r>
          </a:p>
        </p:txBody>
      </p:sp>
      <p:pic>
        <p:nvPicPr>
          <p:cNvPr id="3" name="Picture 2" descr="Img_0.jpg"/>
          <p:cNvPicPr>
            <a:picLocks noChangeAspect="1"/>
          </p:cNvPicPr>
          <p:nvPr/>
        </p:nvPicPr>
        <p:blipFill>
          <a:blip r:embed="rId2"/>
          <a:stretch>
            <a:fillRect/>
          </a:stretch>
        </p:blipFill>
        <p:spPr>
          <a:xfrm>
            <a:off x="134572" y="1709756"/>
            <a:ext cx="4754880" cy="4754880"/>
          </a:xfrm>
          <a:prstGeom prst="rect">
            <a:avLst/>
          </a:prstGeom>
        </p:spPr>
      </p:pic>
      <p:sp>
        <p:nvSpPr>
          <p:cNvPr id="4" name="TextBox 3"/>
          <p:cNvSpPr txBox="1"/>
          <p:nvPr/>
        </p:nvSpPr>
        <p:spPr>
          <a:xfrm>
            <a:off x="393365" y="6435306"/>
            <a:ext cx="4754880" cy="365760"/>
          </a:xfrm>
          <a:prstGeom prst="rect">
            <a:avLst/>
          </a:prstGeom>
          <a:noFill/>
        </p:spPr>
        <p:txBody>
          <a:bodyPr wrap="none">
            <a:spAutoFit/>
          </a:bodyPr>
          <a:lstStyle/>
          <a:p>
            <a:r>
              <a:t>Fire</a:t>
            </a:r>
          </a:p>
        </p:txBody>
      </p:sp>
      <p:pic>
        <p:nvPicPr>
          <p:cNvPr id="5" name="Picture 4" descr="Img_10455.jpg"/>
          <p:cNvPicPr>
            <a:picLocks noChangeAspect="1"/>
          </p:cNvPicPr>
          <p:nvPr/>
        </p:nvPicPr>
        <p:blipFill>
          <a:blip r:embed="rId3"/>
          <a:stretch>
            <a:fillRect/>
          </a:stretch>
        </p:blipFill>
        <p:spPr>
          <a:xfrm>
            <a:off x="4889452" y="1709756"/>
            <a:ext cx="4754880" cy="4754880"/>
          </a:xfrm>
          <a:prstGeom prst="rect">
            <a:avLst/>
          </a:prstGeom>
        </p:spPr>
      </p:pic>
      <p:sp>
        <p:nvSpPr>
          <p:cNvPr id="6" name="TextBox 5"/>
          <p:cNvSpPr txBox="1"/>
          <p:nvPr/>
        </p:nvSpPr>
        <p:spPr>
          <a:xfrm>
            <a:off x="5166360" y="6419520"/>
            <a:ext cx="4754880" cy="365760"/>
          </a:xfrm>
          <a:prstGeom prst="rect">
            <a:avLst/>
          </a:prstGeom>
          <a:noFill/>
        </p:spPr>
        <p:txBody>
          <a:bodyPr wrap="none">
            <a:spAutoFit/>
          </a:bodyPr>
          <a:lstStyle/>
          <a:p>
            <a:r>
              <a:rPr dirty="0"/>
              <a:t>Not Fire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Simulation Output</a:t>
            </a:r>
          </a:p>
        </p:txBody>
      </p:sp>
      <p:pic>
        <p:nvPicPr>
          <p:cNvPr id="5" name="Content Placeholder 4"/>
          <p:cNvPicPr>
            <a:picLocks noGrp="1" noChangeAspect="1"/>
          </p:cNvPicPr>
          <p:nvPr>
            <p:ph idx="1"/>
          </p:nvPr>
        </p:nvPicPr>
        <p:blipFill rotWithShape="1">
          <a:blip r:embed="rId2"/>
          <a:srcRect l="18678"/>
          <a:stretch/>
        </p:blipFill>
        <p:spPr>
          <a:xfrm>
            <a:off x="923365" y="2319743"/>
            <a:ext cx="5190989" cy="3488368"/>
          </a:xfrm>
          <a:prstGeom prst="rect">
            <a:avLst/>
          </a:prstGeom>
        </p:spPr>
      </p:pic>
      <p:sp>
        <p:nvSpPr>
          <p:cNvPr id="3" name="Rectangle 2"/>
          <p:cNvSpPr/>
          <p:nvPr/>
        </p:nvSpPr>
        <p:spPr>
          <a:xfrm>
            <a:off x="2288921" y="5978601"/>
            <a:ext cx="4572000" cy="646331"/>
          </a:xfrm>
          <a:prstGeom prst="rect">
            <a:avLst/>
          </a:prstGeom>
        </p:spPr>
        <p:txBody>
          <a:bodyPr>
            <a:spAutoFit/>
          </a:bodyPr>
          <a:lstStyle/>
          <a:p>
            <a:r>
              <a:rPr lang="en-US" dirty="0"/>
              <a:t>Offline accuracy on held-out pixels 79.7% (</a:t>
            </a:r>
            <a:r>
              <a:rPr lang="en-US" dirty="0" err="1"/>
              <a:t>val</a:t>
            </a:r>
            <a:r>
              <a:rPr lang="en-US" dirty="0"/>
              <a:t> split 20%)</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73388" y="2319743"/>
            <a:ext cx="3503685" cy="348836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Hardware implementation</a:t>
            </a:r>
          </a:p>
        </p:txBody>
      </p:sp>
      <p:sp>
        <p:nvSpPr>
          <p:cNvPr id="3" name="Content Placeholder 2"/>
          <p:cNvSpPr>
            <a:spLocks noGrp="1"/>
          </p:cNvSpPr>
          <p:nvPr>
            <p:ph idx="1"/>
          </p:nvPr>
        </p:nvSpPr>
        <p:spPr/>
        <p:txBody>
          <a:bodyPr>
            <a:normAutofit lnSpcReduction="10000"/>
          </a:bodyPr>
          <a:lstStyle/>
          <a:p>
            <a:pPr>
              <a:lnSpc>
                <a:spcPct val="150000"/>
              </a:lnSpc>
            </a:pPr>
            <a:r>
              <a:rPr lang="en-US" dirty="0">
                <a:latin typeface="Times New Roman" panose="02020603050405020304" pitchFamily="18" charset="0"/>
                <a:cs typeface="Times New Roman" panose="02020603050405020304" pitchFamily="18" charset="0"/>
              </a:rPr>
              <a:t>After the training is completed in Python, the parameters are exported as a table where the values are inserted later as fixed values in </a:t>
            </a:r>
            <a:r>
              <a:rPr lang="en-US" dirty="0" err="1">
                <a:latin typeface="Times New Roman" panose="02020603050405020304" pitchFamily="18" charset="0"/>
                <a:cs typeface="Times New Roman" panose="02020603050405020304" pitchFamily="18" charset="0"/>
              </a:rPr>
              <a:t>vhdl</a:t>
            </a:r>
            <a:r>
              <a:rPr lang="en-US" dirty="0">
                <a:latin typeface="Times New Roman" panose="02020603050405020304" pitchFamily="18" charset="0"/>
                <a:cs typeface="Times New Roman" panose="02020603050405020304" pitchFamily="18" charset="0"/>
              </a:rPr>
              <a:t>.</a:t>
            </a:r>
          </a:p>
          <a:p>
            <a:pPr>
              <a:lnSpc>
                <a:spcPct val="150000"/>
              </a:lnSpc>
            </a:pPr>
            <a:r>
              <a:rPr lang="en-US" dirty="0">
                <a:latin typeface="Times New Roman" panose="02020603050405020304" pitchFamily="18" charset="0"/>
                <a:cs typeface="Times New Roman" panose="02020603050405020304" pitchFamily="18" charset="0"/>
              </a:rPr>
              <a:t>The architecture does not change, it is just implemented in hardware.</a:t>
            </a:r>
          </a:p>
          <a:p>
            <a:pPr>
              <a:lnSpc>
                <a:spcPct val="150000"/>
              </a:lnSpc>
            </a:pPr>
            <a:r>
              <a:rPr lang="en-US" dirty="0">
                <a:latin typeface="Times New Roman" panose="02020603050405020304" pitchFamily="18" charset="0"/>
                <a:cs typeface="Times New Roman" panose="02020603050405020304" pitchFamily="18" charset="0"/>
              </a:rPr>
              <a:t>The hardware does not change the values of the parameters, it is only for inference.</a:t>
            </a:r>
          </a:p>
        </p:txBody>
      </p:sp>
    </p:spTree>
    <p:extLst>
      <p:ext uri="{BB962C8B-B14F-4D97-AF65-F5344CB8AC3E}">
        <p14:creationId xmlns:p14="http://schemas.microsoft.com/office/powerpoint/2010/main" val="323016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3705" y="640968"/>
            <a:ext cx="5937755" cy="1188720"/>
          </a:xfrm>
        </p:spPr>
        <p:txBody>
          <a:bodyPr/>
          <a:lstStyle/>
          <a:p>
            <a:r>
              <a:rPr dirty="0"/>
              <a:t>FPGA Top-Level Processing Chain</a:t>
            </a:r>
          </a:p>
        </p:txBody>
      </p:sp>
      <p:sp>
        <p:nvSpPr>
          <p:cNvPr id="3" name="Rounded Rectangle 2"/>
          <p:cNvSpPr/>
          <p:nvPr/>
        </p:nvSpPr>
        <p:spPr>
          <a:xfrm>
            <a:off x="281940" y="1951991"/>
            <a:ext cx="2011680" cy="914400"/>
          </a:xfrm>
          <a:prstGeom prst="roundRect">
            <a:avLst/>
          </a:prstGeom>
          <a:solidFill>
            <a:srgbClr val="555555"/>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dirty="0"/>
              <a:t>Video Rx</a:t>
            </a:r>
          </a:p>
          <a:p>
            <a:r>
              <a:rPr dirty="0"/>
              <a:t>PCLK, HS/VS/DE</a:t>
            </a:r>
          </a:p>
          <a:p>
            <a:r>
              <a:rPr dirty="0"/>
              <a:t>RGB888</a:t>
            </a:r>
          </a:p>
        </p:txBody>
      </p:sp>
      <p:sp>
        <p:nvSpPr>
          <p:cNvPr id="4" name="Rounded Rectangle 3"/>
          <p:cNvSpPr/>
          <p:nvPr/>
        </p:nvSpPr>
        <p:spPr>
          <a:xfrm>
            <a:off x="2539253" y="2025142"/>
            <a:ext cx="2011680" cy="914400"/>
          </a:xfrm>
          <a:prstGeom prst="roundRect">
            <a:avLst/>
          </a:prstGeom>
          <a:solidFill>
            <a:srgbClr val="3377AA"/>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Pre-Scale /</a:t>
            </a:r>
          </a:p>
          <a:p>
            <a:r>
              <a:t>Clamp</a:t>
            </a:r>
          </a:p>
        </p:txBody>
      </p:sp>
      <p:sp>
        <p:nvSpPr>
          <p:cNvPr id="5" name="Rounded Rectangle 4"/>
          <p:cNvSpPr/>
          <p:nvPr/>
        </p:nvSpPr>
        <p:spPr>
          <a:xfrm>
            <a:off x="4671060" y="2564449"/>
            <a:ext cx="2011680" cy="914400"/>
          </a:xfrm>
          <a:prstGeom prst="roundRect">
            <a:avLst/>
          </a:prstGeom>
          <a:solidFill>
            <a:srgbClr val="148F14"/>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MLP 3–7–2</a:t>
            </a:r>
          </a:p>
          <a:p>
            <a:r>
              <a:t>fixed-point</a:t>
            </a:r>
          </a:p>
        </p:txBody>
      </p:sp>
      <p:sp>
        <p:nvSpPr>
          <p:cNvPr id="6" name="Rounded Rectangle 5"/>
          <p:cNvSpPr/>
          <p:nvPr/>
        </p:nvSpPr>
        <p:spPr>
          <a:xfrm>
            <a:off x="6865620" y="3134996"/>
            <a:ext cx="2011680" cy="914400"/>
          </a:xfrm>
          <a:prstGeom prst="roundRect">
            <a:avLst/>
          </a:prstGeom>
          <a:solidFill>
            <a:srgbClr val="9050A0"/>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Sigmoid LUT</a:t>
            </a:r>
          </a:p>
          <a:p>
            <a:r>
              <a:t>ROM 4k×8</a:t>
            </a:r>
          </a:p>
        </p:txBody>
      </p:sp>
      <p:sp>
        <p:nvSpPr>
          <p:cNvPr id="7" name="Rounded Rectangle 6"/>
          <p:cNvSpPr/>
          <p:nvPr/>
        </p:nvSpPr>
        <p:spPr>
          <a:xfrm>
            <a:off x="4715510" y="3880328"/>
            <a:ext cx="2011680" cy="914400"/>
          </a:xfrm>
          <a:prstGeom prst="roundRect">
            <a:avLst/>
          </a:prstGeom>
          <a:solidFill>
            <a:srgbClr val="AA6622"/>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rPr dirty="0"/>
              <a:t>Classify /</a:t>
            </a:r>
          </a:p>
          <a:p>
            <a:r>
              <a:rPr dirty="0"/>
              <a:t>Overlay</a:t>
            </a:r>
          </a:p>
        </p:txBody>
      </p:sp>
      <p:sp>
        <p:nvSpPr>
          <p:cNvPr id="8" name="Rounded Rectangle 7"/>
          <p:cNvSpPr/>
          <p:nvPr/>
        </p:nvSpPr>
        <p:spPr>
          <a:xfrm>
            <a:off x="2476500" y="4153695"/>
            <a:ext cx="2011680" cy="914400"/>
          </a:xfrm>
          <a:prstGeom prst="roundRect">
            <a:avLst/>
          </a:prstGeom>
          <a:solidFill>
            <a:srgbClr val="555555"/>
          </a:solidFill>
        </p:spPr>
        <p:style>
          <a:lnRef idx="1">
            <a:schemeClr val="accent1"/>
          </a:lnRef>
          <a:fillRef idx="3">
            <a:schemeClr val="accent1"/>
          </a:fillRef>
          <a:effectRef idx="2">
            <a:schemeClr val="accent1"/>
          </a:effectRef>
          <a:fontRef idx="minor">
            <a:schemeClr val="lt1"/>
          </a:fontRef>
        </p:style>
        <p:txBody>
          <a:bodyPr rtlCol="0" anchor="ctr"/>
          <a:lstStyle/>
          <a:p>
            <a:pPr>
              <a:defRPr>
                <a:solidFill>
                  <a:srgbClr val="FFFFFF"/>
                </a:solidFill>
              </a:defRPr>
            </a:pPr>
            <a:r>
              <a:t>Video Tx</a:t>
            </a:r>
          </a:p>
        </p:txBody>
      </p:sp>
      <p:cxnSp>
        <p:nvCxnSpPr>
          <p:cNvPr id="9" name="Connector 8"/>
          <p:cNvCxnSpPr/>
          <p:nvPr/>
        </p:nvCxnSpPr>
        <p:spPr>
          <a:xfrm>
            <a:off x="256032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475488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94944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9144000" y="0"/>
            <a:ext cx="182880"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1338560" y="0"/>
            <a:ext cx="182880" cy="0"/>
          </a:xfrm>
          <a:prstGeom prst="line">
            <a:avLst/>
          </a:prstGeom>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04140" y="5580380"/>
            <a:ext cx="9222740" cy="646331"/>
          </a:xfrm>
          <a:prstGeom prst="rect">
            <a:avLst/>
          </a:prstGeom>
          <a:noFill/>
        </p:spPr>
        <p:txBody>
          <a:bodyPr wrap="square">
            <a:spAutoFit/>
          </a:bodyPr>
          <a:lstStyle/>
          <a:p>
            <a:r>
              <a:rPr dirty="0"/>
              <a:t>Data path: per-pixel inference at pixel clock. One-cycle ROM latency. Pipelined MACs in neuron array.</a:t>
            </a:r>
          </a:p>
        </p:txBody>
      </p:sp>
      <p:sp>
        <p:nvSpPr>
          <p:cNvPr id="17" name="Circular Arrow 16"/>
          <p:cNvSpPr/>
          <p:nvPr/>
        </p:nvSpPr>
        <p:spPr>
          <a:xfrm>
            <a:off x="1965063" y="1673907"/>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 name="Circular Arrow 17"/>
          <p:cNvSpPr/>
          <p:nvPr/>
        </p:nvSpPr>
        <p:spPr>
          <a:xfrm rot="1809532">
            <a:off x="4311127" y="1963920"/>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 name="Circular Arrow 18"/>
          <p:cNvSpPr/>
          <p:nvPr/>
        </p:nvSpPr>
        <p:spPr>
          <a:xfrm rot="2394062">
            <a:off x="6283438" y="2553820"/>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0" name="Circular Arrow 19"/>
          <p:cNvSpPr/>
          <p:nvPr/>
        </p:nvSpPr>
        <p:spPr>
          <a:xfrm rot="8322091">
            <a:off x="6418211" y="3759846"/>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1" name="Circular Arrow 20"/>
          <p:cNvSpPr/>
          <p:nvPr/>
        </p:nvSpPr>
        <p:spPr>
          <a:xfrm rot="9619626">
            <a:off x="4158092" y="4264501"/>
            <a:ext cx="887506" cy="890542"/>
          </a:xfrm>
          <a:prstGeom prst="circular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Key RTL Modules (nn_rgb.vhd)</a:t>
            </a:r>
          </a:p>
        </p:txBody>
      </p:sp>
      <p:sp>
        <p:nvSpPr>
          <p:cNvPr id="3" name="Content Placeholder 2"/>
          <p:cNvSpPr>
            <a:spLocks noGrp="1"/>
          </p:cNvSpPr>
          <p:nvPr>
            <p:ph idx="1"/>
          </p:nvPr>
        </p:nvSpPr>
        <p:spPr/>
        <p:txBody>
          <a:bodyPr>
            <a:normAutofit lnSpcReduction="10000"/>
          </a:bodyPr>
          <a:lstStyle/>
          <a:p>
            <a:pPr>
              <a:lnSpc>
                <a:spcPct val="200000"/>
              </a:lnSpc>
            </a:pPr>
            <a:r>
              <a:rPr dirty="0" err="1">
                <a:latin typeface="Times New Roman" panose="02020603050405020304" pitchFamily="18" charset="0"/>
                <a:cs typeface="Times New Roman" panose="02020603050405020304" pitchFamily="18" charset="0"/>
              </a:rPr>
              <a:t>control.vhd</a:t>
            </a:r>
            <a:r>
              <a:rPr dirty="0">
                <a:latin typeface="Times New Roman" panose="02020603050405020304" pitchFamily="18" charset="0"/>
                <a:cs typeface="Times New Roman" panose="02020603050405020304" pitchFamily="18" charset="0"/>
              </a:rPr>
              <a:t>: sync/enable, pipeline alignment</a:t>
            </a:r>
          </a:p>
          <a:p>
            <a:pPr>
              <a:lnSpc>
                <a:spcPct val="200000"/>
              </a:lnSpc>
            </a:pPr>
            <a:r>
              <a:rPr dirty="0" err="1">
                <a:latin typeface="Times New Roman" panose="02020603050405020304" pitchFamily="18" charset="0"/>
                <a:cs typeface="Times New Roman" panose="02020603050405020304" pitchFamily="18" charset="0"/>
              </a:rPr>
              <a:t>neuron.vhd</a:t>
            </a:r>
            <a:r>
              <a:rPr dirty="0">
                <a:latin typeface="Times New Roman" panose="02020603050405020304" pitchFamily="18" charset="0"/>
                <a:cs typeface="Times New Roman" panose="02020603050405020304" pitchFamily="18" charset="0"/>
              </a:rPr>
              <a:t>: MAC tree per neuron with final bias add</a:t>
            </a:r>
          </a:p>
          <a:p>
            <a:pPr>
              <a:lnSpc>
                <a:spcPct val="200000"/>
              </a:lnSpc>
            </a:pPr>
            <a:r>
              <a:rPr dirty="0" err="1">
                <a:latin typeface="Times New Roman" panose="02020603050405020304" pitchFamily="18" charset="0"/>
                <a:cs typeface="Times New Roman" panose="02020603050405020304" pitchFamily="18" charset="0"/>
              </a:rPr>
              <a:t>multiplier.vhd</a:t>
            </a:r>
            <a:r>
              <a:rPr dirty="0">
                <a:latin typeface="Times New Roman" panose="02020603050405020304" pitchFamily="18" charset="0"/>
                <a:cs typeface="Times New Roman" panose="02020603050405020304" pitchFamily="18" charset="0"/>
              </a:rPr>
              <a:t>: per-input multiply (inferred DSP)</a:t>
            </a:r>
          </a:p>
          <a:p>
            <a:pPr>
              <a:lnSpc>
                <a:spcPct val="200000"/>
              </a:lnSpc>
            </a:pPr>
            <a:r>
              <a:rPr dirty="0" err="1">
                <a:latin typeface="Times New Roman" panose="02020603050405020304" pitchFamily="18" charset="0"/>
                <a:cs typeface="Times New Roman" panose="02020603050405020304" pitchFamily="18" charset="0"/>
              </a:rPr>
              <a:t>sigmoid_IP.vhd</a:t>
            </a:r>
            <a:r>
              <a:rPr dirty="0">
                <a:latin typeface="Times New Roman" panose="02020603050405020304" pitchFamily="18" charset="0"/>
                <a:cs typeface="Times New Roman" panose="02020603050405020304" pitchFamily="18" charset="0"/>
              </a:rPr>
              <a:t>: ROM-based LUT (Xilinx </a:t>
            </a:r>
            <a:r>
              <a:rPr lang="en-US" dirty="0">
                <a:latin typeface="Times New Roman" panose="02020603050405020304" pitchFamily="18" charset="0"/>
                <a:cs typeface="Times New Roman" panose="02020603050405020304" pitchFamily="18" charset="0"/>
              </a:rPr>
              <a:t>B</a:t>
            </a:r>
            <a:r>
              <a:rPr dirty="0">
                <a:latin typeface="Times New Roman" panose="02020603050405020304" pitchFamily="18" charset="0"/>
                <a:cs typeface="Times New Roman" panose="02020603050405020304" pitchFamily="18" charset="0"/>
              </a:rPr>
              <a:t>RAM / Intel M9K)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4" y="274409"/>
            <a:ext cx="5937755" cy="1188720"/>
          </a:xfrm>
        </p:spPr>
        <p:txBody>
          <a:bodyPr/>
          <a:lstStyle/>
          <a:p>
            <a:r>
              <a:rPr lang="en-US" dirty="0"/>
              <a:t>The neuron</a:t>
            </a:r>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r="2762" b="66405"/>
          <a:stretch/>
        </p:blipFill>
        <p:spPr>
          <a:xfrm>
            <a:off x="408332" y="1577788"/>
            <a:ext cx="4988422" cy="4682728"/>
          </a:xfrm>
          <a:prstGeom prst="rect">
            <a:avLst/>
          </a:prstGeom>
        </p:spPr>
      </p:pic>
      <p:sp>
        <p:nvSpPr>
          <p:cNvPr id="4" name="TextBox 3"/>
          <p:cNvSpPr txBox="1"/>
          <p:nvPr/>
        </p:nvSpPr>
        <p:spPr>
          <a:xfrm>
            <a:off x="5468471" y="2052917"/>
            <a:ext cx="3191435" cy="3372077"/>
          </a:xfrm>
          <a:prstGeom prst="rect">
            <a:avLst/>
          </a:prstGeom>
          <a:noFill/>
        </p:spPr>
        <p:txBody>
          <a:bodyPr wrap="square" rtlCol="0">
            <a:spAutoFit/>
          </a:bodyPr>
          <a:lstStyle/>
          <a:p>
            <a:pPr>
              <a:lnSpc>
                <a:spcPct val="150000"/>
              </a:lnSpc>
            </a:pPr>
            <a:r>
              <a:rPr lang="en-US" sz="1600" dirty="0">
                <a:latin typeface="Times New Roman" panose="02020603050405020304" pitchFamily="18" charset="0"/>
                <a:cs typeface="Times New Roman" panose="02020603050405020304" pitchFamily="18" charset="0"/>
              </a:rPr>
              <a:t>The neuron takes the X inputs, multiplies them by the corresponding weights, and then adds them all up, including a bias value. </a:t>
            </a:r>
          </a:p>
          <a:p>
            <a:pPr>
              <a:lnSpc>
                <a:spcPct val="150000"/>
              </a:lnSpc>
            </a:pPr>
            <a:endParaRPr lang="en-US" sz="1600" dirty="0">
              <a:latin typeface="Times New Roman" panose="02020603050405020304" pitchFamily="18" charset="0"/>
              <a:cs typeface="Times New Roman" panose="02020603050405020304" pitchFamily="18" charset="0"/>
            </a:endParaRPr>
          </a:p>
          <a:p>
            <a:pPr>
              <a:lnSpc>
                <a:spcPct val="150000"/>
              </a:lnSpc>
            </a:pPr>
            <a:r>
              <a:rPr lang="en-US" sz="1600" dirty="0">
                <a:latin typeface="Times New Roman" panose="02020603050405020304" pitchFamily="18" charset="0"/>
                <a:cs typeface="Times New Roman" panose="02020603050405020304" pitchFamily="18" charset="0"/>
              </a:rPr>
              <a:t>The output goes into the activation function component, which is created as a ROM.</a:t>
            </a:r>
          </a:p>
        </p:txBody>
      </p:sp>
    </p:spTree>
    <p:extLst>
      <p:ext uri="{BB962C8B-B14F-4D97-AF65-F5344CB8AC3E}">
        <p14:creationId xmlns:p14="http://schemas.microsoft.com/office/powerpoint/2010/main" val="2911960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Hardware Platforms</a:t>
            </a:r>
          </a:p>
        </p:txBody>
      </p:sp>
      <p:sp>
        <p:nvSpPr>
          <p:cNvPr id="3" name="Content Placeholder 2"/>
          <p:cNvSpPr>
            <a:spLocks noGrp="1"/>
          </p:cNvSpPr>
          <p:nvPr>
            <p:ph idx="1"/>
          </p:nvPr>
        </p:nvSpPr>
        <p:spPr/>
        <p:txBody>
          <a:bodyPr>
            <a:normAutofit/>
          </a:bodyPr>
          <a:lstStyle/>
          <a:p>
            <a:pPr>
              <a:lnSpc>
                <a:spcPct val="200000"/>
              </a:lnSpc>
            </a:pPr>
            <a:r>
              <a:rPr sz="1600" dirty="0">
                <a:latin typeface="Times New Roman" panose="02020603050405020304" pitchFamily="18" charset="0"/>
                <a:cs typeface="Times New Roman" panose="02020603050405020304" pitchFamily="18" charset="0"/>
              </a:rPr>
              <a:t>Xilinx ML501 (Virtex-5): DVI Rx/</a:t>
            </a:r>
            <a:r>
              <a:rPr sz="1600" dirty="0" err="1">
                <a:latin typeface="Times New Roman" panose="02020603050405020304" pitchFamily="18" charset="0"/>
                <a:cs typeface="Times New Roman" panose="02020603050405020304" pitchFamily="18" charset="0"/>
              </a:rPr>
              <a:t>Tx</a:t>
            </a:r>
            <a:r>
              <a:rPr sz="1600" dirty="0">
                <a:latin typeface="Times New Roman" panose="02020603050405020304" pitchFamily="18" charset="0"/>
                <a:cs typeface="Times New Roman" panose="02020603050405020304" pitchFamily="18" charset="0"/>
              </a:rPr>
              <a:t> available, JTAG/</a:t>
            </a:r>
            <a:r>
              <a:rPr sz="1600" dirty="0" err="1">
                <a:latin typeface="Times New Roman" panose="02020603050405020304" pitchFamily="18" charset="0"/>
                <a:cs typeface="Times New Roman" panose="02020603050405020304" pitchFamily="18" charset="0"/>
              </a:rPr>
              <a:t>SystemACE</a:t>
            </a:r>
            <a:r>
              <a:rPr sz="1600" dirty="0">
                <a:latin typeface="Times New Roman" panose="02020603050405020304" pitchFamily="18" charset="0"/>
                <a:cs typeface="Times New Roman" panose="02020603050405020304" pitchFamily="18" charset="0"/>
              </a:rPr>
              <a:t> </a:t>
            </a:r>
            <a:r>
              <a:rPr sz="1600" dirty="0" err="1">
                <a:latin typeface="Times New Roman" panose="02020603050405020304" pitchFamily="18" charset="0"/>
                <a:cs typeface="Times New Roman" panose="02020603050405020304" pitchFamily="18" charset="0"/>
              </a:rPr>
              <a:t>config</a:t>
            </a:r>
            <a:endParaRPr sz="1600" dirty="0">
              <a:latin typeface="Times New Roman" panose="02020603050405020304" pitchFamily="18" charset="0"/>
              <a:cs typeface="Times New Roman" panose="02020603050405020304" pitchFamily="18" charset="0"/>
            </a:endParaRPr>
          </a:p>
          <a:p>
            <a:pPr>
              <a:lnSpc>
                <a:spcPct val="200000"/>
              </a:lnSpc>
            </a:pPr>
            <a:r>
              <a:rPr sz="1600" dirty="0">
                <a:latin typeface="Times New Roman" panose="02020603050405020304" pitchFamily="18" charset="0"/>
                <a:cs typeface="Times New Roman" panose="02020603050405020304" pitchFamily="18" charset="0"/>
              </a:rPr>
              <a:t>Intel Cyclone V path exists (</a:t>
            </a:r>
            <a:r>
              <a:rPr sz="1600" dirty="0" err="1">
                <a:latin typeface="Times New Roman" panose="02020603050405020304" pitchFamily="18" charset="0"/>
                <a:cs typeface="Times New Roman" panose="02020603050405020304" pitchFamily="18" charset="0"/>
              </a:rPr>
              <a:t>Quartus</a:t>
            </a:r>
            <a:r>
              <a:rPr sz="1600" dirty="0">
                <a:latin typeface="Times New Roman" panose="02020603050405020304" pitchFamily="18" charset="0"/>
                <a:cs typeface="Times New Roman" panose="02020603050405020304" pitchFamily="18" charset="0"/>
              </a:rPr>
              <a:t> 13.0 SP1), no native video Rx</a:t>
            </a:r>
            <a:endParaRPr lang="en-US" sz="1600" dirty="0">
              <a:latin typeface="Times New Roman" panose="02020603050405020304" pitchFamily="18" charset="0"/>
              <a:cs typeface="Times New Roman" panose="02020603050405020304" pitchFamily="18" charset="0"/>
            </a:endParaRPr>
          </a:p>
          <a:p>
            <a:pPr>
              <a:lnSpc>
                <a:spcPct val="200000"/>
              </a:lnSpc>
            </a:pPr>
            <a:r>
              <a:rPr lang="en-US" sz="1600" dirty="0" err="1">
                <a:latin typeface="Times New Roman" panose="02020603050405020304" pitchFamily="18" charset="0"/>
                <a:cs typeface="Times New Roman" panose="02020603050405020304" pitchFamily="18" charset="0"/>
              </a:rPr>
              <a:t>Zynq</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ultrascale</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MPSoCs</a:t>
            </a:r>
            <a:r>
              <a:rPr lang="en-US" sz="1600" dirty="0">
                <a:latin typeface="Times New Roman" panose="02020603050405020304" pitchFamily="18" charset="0"/>
                <a:cs typeface="Times New Roman" panose="02020603050405020304" pitchFamily="18" charset="0"/>
              </a:rPr>
              <a:t> (only on </a:t>
            </a:r>
            <a:r>
              <a:rPr lang="en-US" sz="1600" dirty="0" err="1">
                <a:latin typeface="Times New Roman" panose="02020603050405020304" pitchFamily="18" charset="0"/>
                <a:cs typeface="Times New Roman" panose="02020603050405020304" pitchFamily="18" charset="0"/>
              </a:rPr>
              <a:t>vivado</a:t>
            </a:r>
            <a:r>
              <a:rPr lang="en-US" sz="1600" dirty="0">
                <a:latin typeface="Times New Roman" panose="02020603050405020304" pitchFamily="18" charset="0"/>
                <a:cs typeface="Times New Roman" panose="02020603050405020304" pitchFamily="18" charset="0"/>
              </a:rPr>
              <a:t>)</a:t>
            </a:r>
            <a:endParaRPr sz="1600" dirty="0">
              <a:latin typeface="Times New Roman" panose="02020603050405020304" pitchFamily="18" charset="0"/>
              <a:cs typeface="Times New Roman" panose="02020603050405020304" pitchFamily="18" charset="0"/>
            </a:endParaRPr>
          </a:p>
          <a:p>
            <a:pPr lvl="1">
              <a:lnSpc>
                <a:spcPct val="200000"/>
              </a:lnSpc>
            </a:pPr>
            <a:r>
              <a:rPr dirty="0">
                <a:latin typeface="Times New Roman" panose="02020603050405020304" pitchFamily="18" charset="0"/>
                <a:cs typeface="Times New Roman" panose="02020603050405020304" pitchFamily="18" charset="0"/>
              </a:rPr>
              <a:t>Design is vendor-neutral except sigmoid ROM wrapper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370332"/>
            <a:ext cx="5937755" cy="1188720"/>
          </a:xfrm>
        </p:spPr>
        <p:txBody>
          <a:bodyPr/>
          <a:lstStyle/>
          <a:p>
            <a:r>
              <a:rPr lang="en-US" dirty="0"/>
              <a:t>End-to-end workflow</a:t>
            </a:r>
          </a:p>
        </p:txBody>
      </p:sp>
      <p:sp>
        <p:nvSpPr>
          <p:cNvPr id="3" name="Content Placeholder 2"/>
          <p:cNvSpPr>
            <a:spLocks noGrp="1"/>
          </p:cNvSpPr>
          <p:nvPr>
            <p:ph idx="1"/>
          </p:nvPr>
        </p:nvSpPr>
        <p:spPr>
          <a:xfrm>
            <a:off x="0" y="1759504"/>
            <a:ext cx="6820779" cy="3664143"/>
          </a:xfrm>
        </p:spPr>
        <p:txBody>
          <a:bodyPr>
            <a:noAutofit/>
          </a:bodyPr>
          <a:lstStyle/>
          <a:p>
            <a:pPr lvl="0"/>
            <a:r>
              <a:rPr lang="en-US" sz="1600" dirty="0">
                <a:latin typeface="Times New Roman" panose="02020603050405020304" pitchFamily="18" charset="0"/>
                <a:cs typeface="Times New Roman" panose="02020603050405020304" pitchFamily="18" charset="0"/>
              </a:rPr>
              <a:t>Data and training (Python)</a:t>
            </a:r>
          </a:p>
          <a:p>
            <a:pPr lvl="1"/>
            <a:r>
              <a:rPr lang="en-US" dirty="0">
                <a:latin typeface="Times New Roman" panose="02020603050405020304" pitchFamily="18" charset="0"/>
                <a:cs typeface="Times New Roman" panose="02020603050405020304" pitchFamily="18" charset="0"/>
              </a:rPr>
              <a:t>Dataset in </a:t>
            </a:r>
            <a:r>
              <a:rPr lang="en-US" u="sng" dirty="0">
                <a:latin typeface="Times New Roman" panose="02020603050405020304" pitchFamily="18" charset="0"/>
                <a:cs typeface="Times New Roman" panose="02020603050405020304" pitchFamily="18" charset="0"/>
                <a:hlinkClick r:id="rId2"/>
              </a:rPr>
              <a:t>wildfire</a:t>
            </a:r>
            <a:r>
              <a:rPr lang="en-US" dirty="0">
                <a:latin typeface="Times New Roman" panose="02020603050405020304" pitchFamily="18" charset="0"/>
                <a:cs typeface="Times New Roman" panose="02020603050405020304" pitchFamily="18" charset="0"/>
              </a:rPr>
              <a:t> (image and mask folders).</a:t>
            </a:r>
          </a:p>
          <a:p>
            <a:pPr lvl="1"/>
            <a:r>
              <a:rPr lang="en-US" dirty="0">
                <a:latin typeface="Times New Roman" panose="02020603050405020304" pitchFamily="18" charset="0"/>
                <a:cs typeface="Times New Roman" panose="02020603050405020304" pitchFamily="18" charset="0"/>
              </a:rPr>
              <a:t>Train MLP and produce floating-point weights/biases using </a:t>
            </a:r>
            <a:r>
              <a:rPr lang="en-US" u="sng" dirty="0">
                <a:latin typeface="Times New Roman" panose="02020603050405020304" pitchFamily="18" charset="0"/>
                <a:cs typeface="Times New Roman" panose="02020603050405020304" pitchFamily="18" charset="0"/>
                <a:hlinkClick r:id="rId2"/>
              </a:rPr>
              <a:t>train_mlp.py</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Quantize to fixed-point and export artifacts using:</a:t>
            </a:r>
          </a:p>
          <a:p>
            <a:pPr lvl="2"/>
            <a:r>
              <a:rPr lang="en-US" u="sng" dirty="0">
                <a:latin typeface="Times New Roman" panose="02020603050405020304" pitchFamily="18" charset="0"/>
                <a:cs typeface="Times New Roman" panose="02020603050405020304" pitchFamily="18" charset="0"/>
                <a:hlinkClick r:id="rId2"/>
              </a:rPr>
              <a:t>export_fixedpoint.py</a:t>
            </a:r>
            <a:r>
              <a:rPr lang="en-US" dirty="0">
                <a:latin typeface="Times New Roman" panose="02020603050405020304" pitchFamily="18" charset="0"/>
                <a:cs typeface="Times New Roman" panose="02020603050405020304" pitchFamily="18" charset="0"/>
              </a:rPr>
              <a:t>: converts trained tensors to fixed-point.</a:t>
            </a:r>
          </a:p>
          <a:p>
            <a:pPr lvl="2"/>
            <a:r>
              <a:rPr lang="en-US" u="sng" dirty="0">
                <a:latin typeface="Times New Roman" panose="02020603050405020304" pitchFamily="18" charset="0"/>
                <a:cs typeface="Times New Roman" panose="02020603050405020304" pitchFamily="18" charset="0"/>
                <a:hlinkClick r:id="rId2"/>
              </a:rPr>
              <a:t>gen_sigmoid_lut.py</a:t>
            </a:r>
            <a:r>
              <a:rPr lang="en-US" dirty="0">
                <a:latin typeface="Times New Roman" panose="02020603050405020304" pitchFamily="18" charset="0"/>
                <a:cs typeface="Times New Roman" panose="02020603050405020304" pitchFamily="18" charset="0"/>
              </a:rPr>
              <a:t>: generates activation LUT samples.</a:t>
            </a:r>
          </a:p>
          <a:p>
            <a:pPr lvl="2"/>
            <a:r>
              <a:rPr lang="en-US" u="sng" dirty="0">
                <a:latin typeface="Times New Roman" panose="02020603050405020304" pitchFamily="18" charset="0"/>
                <a:cs typeface="Times New Roman" panose="02020603050405020304" pitchFamily="18" charset="0"/>
                <a:hlinkClick r:id="rId2"/>
              </a:rPr>
              <a:t>export_to_xilinx.py</a:t>
            </a:r>
            <a:r>
              <a:rPr lang="en-US" dirty="0">
                <a:latin typeface="Times New Roman" panose="02020603050405020304" pitchFamily="18" charset="0"/>
                <a:cs typeface="Times New Roman" panose="02020603050405020304" pitchFamily="18" charset="0"/>
              </a:rPr>
              <a:t>: writes COE and optionally a VHDL package.</a:t>
            </a:r>
          </a:p>
          <a:p>
            <a:pPr lvl="1"/>
            <a:r>
              <a:rPr lang="en-US" dirty="0" err="1">
                <a:latin typeface="Times New Roman" panose="02020603050405020304" pitchFamily="18" charset="0"/>
                <a:cs typeface="Times New Roman" panose="02020603050405020304" pitchFamily="18" charset="0"/>
              </a:rPr>
              <a:t>Config</a:t>
            </a:r>
            <a:r>
              <a:rPr lang="en-US" dirty="0">
                <a:latin typeface="Times New Roman" panose="02020603050405020304" pitchFamily="18" charset="0"/>
                <a:cs typeface="Times New Roman" panose="02020603050405020304" pitchFamily="18" charset="0"/>
              </a:rPr>
              <a:t> drives sizes/</a:t>
            </a:r>
            <a:r>
              <a:rPr lang="en-US" dirty="0" err="1">
                <a:latin typeface="Times New Roman" panose="02020603050405020304" pitchFamily="18" charset="0"/>
                <a:cs typeface="Times New Roman" panose="02020603050405020304" pitchFamily="18" charset="0"/>
              </a:rPr>
              <a:t>bitwidths</a:t>
            </a:r>
            <a:r>
              <a:rPr lang="en-US" dirty="0">
                <a:latin typeface="Times New Roman" panose="02020603050405020304" pitchFamily="18" charset="0"/>
                <a:cs typeface="Times New Roman" panose="02020603050405020304" pitchFamily="18" charset="0"/>
              </a:rPr>
              <a:t> via </a:t>
            </a:r>
            <a:r>
              <a:rPr lang="en-US" u="sng" dirty="0" err="1">
                <a:latin typeface="Times New Roman" panose="02020603050405020304" pitchFamily="18" charset="0"/>
                <a:cs typeface="Times New Roman" panose="02020603050405020304" pitchFamily="18" charset="0"/>
                <a:hlinkClick r:id="rId2"/>
              </a:rPr>
              <a:t>config.yaml</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Outputs:</a:t>
            </a:r>
          </a:p>
          <a:p>
            <a:pPr lvl="2"/>
            <a:r>
              <a:rPr lang="en-US" dirty="0">
                <a:latin typeface="Times New Roman" panose="02020603050405020304" pitchFamily="18" charset="0"/>
                <a:cs typeface="Times New Roman" panose="02020603050405020304" pitchFamily="18" charset="0"/>
              </a:rPr>
              <a:t>Fixed-point arrays in </a:t>
            </a:r>
            <a:r>
              <a:rPr lang="en-US" u="sng" dirty="0">
                <a:latin typeface="Times New Roman" panose="02020603050405020304" pitchFamily="18" charset="0"/>
                <a:cs typeface="Times New Roman" panose="02020603050405020304" pitchFamily="18" charset="0"/>
                <a:hlinkClick r:id="rId2"/>
              </a:rPr>
              <a:t>artifacts</a:t>
            </a:r>
            <a:r>
              <a:rPr lang="en-US" dirty="0">
                <a:latin typeface="Times New Roman" panose="02020603050405020304" pitchFamily="18" charset="0"/>
                <a:cs typeface="Times New Roman" panose="02020603050405020304" pitchFamily="18" charset="0"/>
              </a:rPr>
              <a:t> and text/COE files in </a:t>
            </a:r>
            <a:r>
              <a:rPr lang="en-US" u="sng" dirty="0" err="1">
                <a:latin typeface="Times New Roman" panose="02020603050405020304" pitchFamily="18" charset="0"/>
                <a:cs typeface="Times New Roman" panose="02020603050405020304" pitchFamily="18" charset="0"/>
                <a:hlinkClick r:id="rId2"/>
              </a:rPr>
              <a:t>coeffs</a:t>
            </a:r>
            <a:r>
              <a:rPr lang="en-US" dirty="0">
                <a:latin typeface="Times New Roman" panose="02020603050405020304" pitchFamily="18" charset="0"/>
                <a:cs typeface="Times New Roman" panose="02020603050405020304" pitchFamily="18" charset="0"/>
              </a:rPr>
              <a:t>:</a:t>
            </a:r>
          </a:p>
          <a:p>
            <a:pPr lvl="3"/>
            <a:r>
              <a:rPr lang="en-US" u="sng" dirty="0">
                <a:latin typeface="Times New Roman" panose="02020603050405020304" pitchFamily="18" charset="0"/>
                <a:cs typeface="Times New Roman" panose="02020603050405020304" pitchFamily="18" charset="0"/>
                <a:hlinkClick r:id="rId2"/>
              </a:rPr>
              <a:t>weights_layer1.txt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bias_layer1.txt</a:t>
            </a:r>
            <a:endParaRPr lang="en-US" dirty="0">
              <a:latin typeface="Times New Roman" panose="02020603050405020304" pitchFamily="18" charset="0"/>
              <a:cs typeface="Times New Roman" panose="02020603050405020304" pitchFamily="18" charset="0"/>
            </a:endParaRPr>
          </a:p>
          <a:p>
            <a:pPr lvl="3"/>
            <a:r>
              <a:rPr lang="en-US" u="sng" dirty="0">
                <a:latin typeface="Times New Roman" panose="02020603050405020304" pitchFamily="18" charset="0"/>
                <a:cs typeface="Times New Roman" panose="02020603050405020304" pitchFamily="18" charset="0"/>
                <a:hlinkClick r:id="rId2"/>
              </a:rPr>
              <a:t>weights_layer2.txt</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bias_layer2.txt</a:t>
            </a:r>
            <a:endParaRPr lang="en-US" dirty="0">
              <a:latin typeface="Times New Roman" panose="02020603050405020304" pitchFamily="18" charset="0"/>
              <a:cs typeface="Times New Roman" panose="02020603050405020304" pitchFamily="18" charset="0"/>
            </a:endParaRPr>
          </a:p>
          <a:p>
            <a:pPr lvl="3"/>
            <a:r>
              <a:rPr lang="en-US" u="sng" dirty="0">
                <a:latin typeface="Times New Roman" panose="02020603050405020304" pitchFamily="18" charset="0"/>
                <a:cs typeface="Times New Roman" panose="02020603050405020304" pitchFamily="18" charset="0"/>
                <a:hlinkClick r:id="rId2"/>
              </a:rPr>
              <a:t>activation_lut.txt</a:t>
            </a:r>
            <a:r>
              <a:rPr lang="en-US" dirty="0">
                <a:latin typeface="Times New Roman" panose="02020603050405020304" pitchFamily="18" charset="0"/>
                <a:cs typeface="Times New Roman" panose="02020603050405020304" pitchFamily="18" charset="0"/>
              </a:rPr>
              <a:t> and </a:t>
            </a:r>
            <a:r>
              <a:rPr lang="en-US" u="sng" dirty="0" err="1">
                <a:latin typeface="Times New Roman" panose="02020603050405020304" pitchFamily="18" charset="0"/>
                <a:cs typeface="Times New Roman" panose="02020603050405020304" pitchFamily="18" charset="0"/>
                <a:hlinkClick r:id="rId2"/>
              </a:rPr>
              <a:t>activation_lut.coe</a:t>
            </a:r>
            <a:endParaRPr lang="en-US"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p:txBody>
      </p:sp>
      <p:pic>
        <p:nvPicPr>
          <p:cNvPr id="4" name="Picture 3"/>
          <p:cNvPicPr/>
          <p:nvPr/>
        </p:nvPicPr>
        <p:blipFill rotWithShape="1">
          <a:blip r:embed="rId3"/>
          <a:srcRect b="14987"/>
          <a:stretch/>
        </p:blipFill>
        <p:spPr bwMode="auto">
          <a:xfrm>
            <a:off x="5510176" y="1460440"/>
            <a:ext cx="3633824" cy="5298948"/>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5837459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0963" y="522374"/>
            <a:ext cx="8031013" cy="6012897"/>
          </a:xfrm>
        </p:spPr>
        <p:txBody>
          <a:bodyPr>
            <a:normAutofit/>
          </a:bodyPr>
          <a:lstStyle/>
          <a:p>
            <a:pPr lvl="0"/>
            <a:r>
              <a:rPr lang="en-US" sz="1600" dirty="0">
                <a:latin typeface="Times New Roman" panose="02020603050405020304" pitchFamily="18" charset="0"/>
                <a:cs typeface="Times New Roman" panose="02020603050405020304" pitchFamily="18" charset="0"/>
              </a:rPr>
              <a:t>Functional validation (Python)</a:t>
            </a:r>
          </a:p>
          <a:p>
            <a:pPr lvl="1"/>
            <a:r>
              <a:rPr lang="en-US" dirty="0">
                <a:latin typeface="Times New Roman" panose="02020603050405020304" pitchFamily="18" charset="0"/>
                <a:cs typeface="Times New Roman" panose="02020603050405020304" pitchFamily="18" charset="0"/>
              </a:rPr>
              <a:t>Compare fixed-point inference vs. floating-point using </a:t>
            </a:r>
            <a:r>
              <a:rPr lang="en-US" u="sng" dirty="0">
                <a:latin typeface="Times New Roman" panose="02020603050405020304" pitchFamily="18" charset="0"/>
                <a:cs typeface="Times New Roman" panose="02020603050405020304" pitchFamily="18" charset="0"/>
                <a:hlinkClick r:id="rId2"/>
              </a:rPr>
              <a:t>evaluate_and_plot.py</a:t>
            </a:r>
            <a:r>
              <a:rPr lang="en-US" dirty="0">
                <a:latin typeface="Times New Roman" panose="02020603050405020304" pitchFamily="18" charset="0"/>
                <a:cs typeface="Times New Roman" panose="02020603050405020304" pitchFamily="18" charset="0"/>
              </a:rPr>
              <a:t> and test vectors in </a:t>
            </a:r>
            <a:r>
              <a:rPr lang="en-US" u="sng" dirty="0" err="1">
                <a:latin typeface="Times New Roman" panose="02020603050405020304" pitchFamily="18" charset="0"/>
                <a:cs typeface="Times New Roman" panose="02020603050405020304" pitchFamily="18" charset="0"/>
                <a:hlinkClick r:id="rId2"/>
              </a:rPr>
              <a:t>testvectors</a:t>
            </a:r>
            <a:r>
              <a:rPr lang="en-US" dirty="0">
                <a:latin typeface="Times New Roman" panose="02020603050405020304" pitchFamily="18" charset="0"/>
                <a:cs typeface="Times New Roman" panose="02020603050405020304" pitchFamily="18" charset="0"/>
              </a:rPr>
              <a:t>.</a:t>
            </a:r>
          </a:p>
          <a:p>
            <a:pPr lvl="0"/>
            <a:r>
              <a:rPr lang="en-US" sz="1600" dirty="0">
                <a:latin typeface="Times New Roman" panose="02020603050405020304" pitchFamily="18" charset="0"/>
                <a:cs typeface="Times New Roman" panose="02020603050405020304" pitchFamily="18" charset="0"/>
              </a:rPr>
              <a:t>RTL simulation (</a:t>
            </a:r>
            <a:r>
              <a:rPr lang="en-US" sz="1600" dirty="0" err="1">
                <a:latin typeface="Times New Roman" panose="02020603050405020304" pitchFamily="18" charset="0"/>
                <a:cs typeface="Times New Roman" panose="02020603050405020304" pitchFamily="18" charset="0"/>
              </a:rPr>
              <a:t>ModelSim</a:t>
            </a:r>
            <a:r>
              <a:rPr lang="en-US" sz="1600" dirty="0">
                <a:latin typeface="Times New Roman" panose="02020603050405020304" pitchFamily="18" charset="0"/>
                <a:cs typeface="Times New Roman" panose="02020603050405020304" pitchFamily="18" charset="0"/>
              </a:rPr>
              <a:t>/Questa)</a:t>
            </a:r>
          </a:p>
          <a:p>
            <a:pPr lvl="1"/>
            <a:r>
              <a:rPr lang="en-US" dirty="0">
                <a:latin typeface="Times New Roman" panose="02020603050405020304" pitchFamily="18" charset="0"/>
                <a:cs typeface="Times New Roman" panose="02020603050405020304" pitchFamily="18" charset="0"/>
              </a:rPr>
              <a:t>Project file </a:t>
            </a:r>
            <a:r>
              <a:rPr lang="en-US" u="sng" dirty="0">
                <a:latin typeface="Times New Roman" panose="02020603050405020304" pitchFamily="18" charset="0"/>
                <a:cs typeface="Times New Roman" panose="02020603050405020304" pitchFamily="18" charset="0"/>
                <a:hlinkClick r:id="rId2"/>
              </a:rPr>
              <a:t>sim.mpf</a:t>
            </a:r>
            <a:r>
              <a:rPr lang="en-US" dirty="0">
                <a:latin typeface="Times New Roman" panose="02020603050405020304" pitchFamily="18" charset="0"/>
                <a:cs typeface="Times New Roman" panose="02020603050405020304" pitchFamily="18" charset="0"/>
              </a:rPr>
              <a:t> compiles the same VHDL sources used by </a:t>
            </a:r>
            <a:r>
              <a:rPr lang="en-US" dirty="0" err="1">
                <a:latin typeface="Times New Roman" panose="02020603050405020304" pitchFamily="18" charset="0"/>
                <a:cs typeface="Times New Roman" panose="02020603050405020304" pitchFamily="18" charset="0"/>
              </a:rPr>
              <a:t>Vivado</a:t>
            </a:r>
            <a:r>
              <a:rPr lang="en-US" dirty="0">
                <a:latin typeface="Times New Roman" panose="02020603050405020304" pitchFamily="18" charset="0"/>
                <a:cs typeface="Times New Roman" panose="02020603050405020304" pitchFamily="18" charset="0"/>
              </a:rPr>
              <a:t>. It also contains references to stimulus/response images: </a:t>
            </a:r>
            <a:r>
              <a:rPr lang="en-US" u="sng" dirty="0" err="1">
                <a:latin typeface="Times New Roman" panose="02020603050405020304" pitchFamily="18" charset="0"/>
                <a:cs typeface="Times New Roman" panose="02020603050405020304" pitchFamily="18" charset="0"/>
                <a:hlinkClick r:id="rId2"/>
              </a:rPr>
              <a:t>image_stimuli.ppm</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image_response.ppm</a:t>
            </a:r>
            <a:r>
              <a:rPr lang="en-US" dirty="0">
                <a:latin typeface="Times New Roman" panose="02020603050405020304" pitchFamily="18" charset="0"/>
                <a:cs typeface="Times New Roman" panose="02020603050405020304" pitchFamily="18" charset="0"/>
              </a:rPr>
              <a:t>.</a:t>
            </a:r>
          </a:p>
          <a:p>
            <a:pPr lvl="0"/>
            <a:r>
              <a:rPr lang="en-US" sz="1600" dirty="0">
                <a:latin typeface="Times New Roman" panose="02020603050405020304" pitchFamily="18" charset="0"/>
                <a:cs typeface="Times New Roman" panose="02020603050405020304" pitchFamily="18" charset="0"/>
              </a:rPr>
              <a:t>Synthesis and implementation (</a:t>
            </a:r>
            <a:r>
              <a:rPr lang="en-US" sz="1600" dirty="0" err="1">
                <a:latin typeface="Times New Roman" panose="02020603050405020304" pitchFamily="18" charset="0"/>
                <a:cs typeface="Times New Roman" panose="02020603050405020304" pitchFamily="18" charset="0"/>
              </a:rPr>
              <a:t>Vivado</a:t>
            </a:r>
            <a:r>
              <a:rPr lang="en-US" sz="1600" dirty="0">
                <a:latin typeface="Times New Roman" panose="02020603050405020304" pitchFamily="18" charset="0"/>
                <a:cs typeface="Times New Roman" panose="02020603050405020304" pitchFamily="18" charset="0"/>
              </a:rPr>
              <a:t> 24.1.2, ZCU106)</a:t>
            </a:r>
          </a:p>
          <a:p>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Python side (how parameters become hardware-initialized constants)</a:t>
            </a:r>
          </a:p>
          <a:p>
            <a:pPr lvl="0"/>
            <a:r>
              <a:rPr lang="en-US" sz="1600" dirty="0">
                <a:latin typeface="Times New Roman" panose="02020603050405020304" pitchFamily="18" charset="0"/>
                <a:cs typeface="Times New Roman" panose="02020603050405020304" pitchFamily="18" charset="0"/>
              </a:rPr>
              <a:t>Sigmoid LUT COE:</a:t>
            </a:r>
          </a:p>
          <a:p>
            <a:pPr lvl="1"/>
            <a:r>
              <a:rPr lang="en-US" u="sng" dirty="0">
                <a:latin typeface="Times New Roman" panose="02020603050405020304" pitchFamily="18" charset="0"/>
                <a:cs typeface="Times New Roman" panose="02020603050405020304" pitchFamily="18" charset="0"/>
                <a:hlinkClick r:id="rId2"/>
              </a:rPr>
              <a:t>export_to_xilinx.py</a:t>
            </a:r>
            <a:r>
              <a:rPr lang="en-US" dirty="0">
                <a:latin typeface="Times New Roman" panose="02020603050405020304" pitchFamily="18" charset="0"/>
                <a:cs typeface="Times New Roman" panose="02020603050405020304" pitchFamily="18" charset="0"/>
              </a:rPr>
              <a:t> loads </a:t>
            </a:r>
            <a:r>
              <a:rPr lang="en-US" u="sng" dirty="0">
                <a:latin typeface="Times New Roman" panose="02020603050405020304" pitchFamily="18" charset="0"/>
                <a:cs typeface="Times New Roman" panose="02020603050405020304" pitchFamily="18" charset="0"/>
                <a:hlinkClick r:id="rId2"/>
              </a:rPr>
              <a:t>activation_lut.txt</a:t>
            </a:r>
            <a:r>
              <a:rPr lang="en-US" dirty="0">
                <a:latin typeface="Times New Roman" panose="02020603050405020304" pitchFamily="18" charset="0"/>
                <a:cs typeface="Times New Roman" panose="02020603050405020304" pitchFamily="18" charset="0"/>
              </a:rPr>
              <a:t> and emits </a:t>
            </a:r>
            <a:r>
              <a:rPr lang="en-US" u="sng" dirty="0" err="1">
                <a:latin typeface="Times New Roman" panose="02020603050405020304" pitchFamily="18" charset="0"/>
                <a:cs typeface="Times New Roman" panose="02020603050405020304" pitchFamily="18" charset="0"/>
                <a:hlinkClick r:id="rId2"/>
              </a:rPr>
              <a:t>activation_lut.coe</a:t>
            </a:r>
            <a:r>
              <a:rPr lang="en-US" dirty="0">
                <a:latin typeface="Times New Roman" panose="02020603050405020304" pitchFamily="18" charset="0"/>
                <a:cs typeface="Times New Roman" panose="02020603050405020304" pitchFamily="18" charset="0"/>
              </a:rPr>
              <a:t> via its local function </a:t>
            </a:r>
            <a:r>
              <a:rPr lang="en-US" dirty="0" err="1">
                <a:latin typeface="Times New Roman" panose="02020603050405020304" pitchFamily="18" charset="0"/>
                <a:cs typeface="Times New Roman" panose="02020603050405020304" pitchFamily="18" charset="0"/>
              </a:rPr>
              <a:t>write_coe</a:t>
            </a:r>
            <a:r>
              <a:rPr lang="en-US" dirty="0">
                <a:latin typeface="Times New Roman" panose="02020603050405020304" pitchFamily="18" charset="0"/>
                <a:cs typeface="Times New Roman" panose="02020603050405020304" pitchFamily="18" charset="0"/>
              </a:rPr>
              <a:t>(...).</a:t>
            </a:r>
          </a:p>
          <a:p>
            <a:pPr lvl="0"/>
            <a:r>
              <a:rPr lang="en-US" sz="1600" dirty="0">
                <a:latin typeface="Times New Roman" panose="02020603050405020304" pitchFamily="18" charset="0"/>
                <a:cs typeface="Times New Roman" panose="02020603050405020304" pitchFamily="18" charset="0"/>
              </a:rPr>
              <a:t>Weights/Biases:</a:t>
            </a:r>
          </a:p>
          <a:p>
            <a:pPr lvl="1"/>
            <a:r>
              <a:rPr lang="en-US" dirty="0">
                <a:latin typeface="Times New Roman" panose="02020603050405020304" pitchFamily="18" charset="0"/>
                <a:cs typeface="Times New Roman" panose="02020603050405020304" pitchFamily="18" charset="0"/>
              </a:rPr>
              <a:t>Stored as text files in </a:t>
            </a:r>
            <a:r>
              <a:rPr lang="en-US" u="sng" dirty="0" err="1">
                <a:latin typeface="Times New Roman" panose="02020603050405020304" pitchFamily="18" charset="0"/>
                <a:cs typeface="Times New Roman" panose="02020603050405020304" pitchFamily="18" charset="0"/>
                <a:hlinkClick r:id="rId2"/>
              </a:rPr>
              <a:t>coeffs</a:t>
            </a:r>
            <a:r>
              <a:rPr lang="en-US" dirty="0">
                <a:latin typeface="Times New Roman" panose="02020603050405020304" pitchFamily="18" charset="0"/>
                <a:cs typeface="Times New Roman" panose="02020603050405020304" pitchFamily="18" charset="0"/>
              </a:rPr>
              <a:t>. These are typically converted to either a VHDL package with constant arrays or to additional ROM initializations. </a:t>
            </a:r>
          </a:p>
        </p:txBody>
      </p:sp>
    </p:spTree>
    <p:extLst>
      <p:ext uri="{BB962C8B-B14F-4D97-AF65-F5344CB8AC3E}">
        <p14:creationId xmlns:p14="http://schemas.microsoft.com/office/powerpoint/2010/main" val="40035983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3" y="95654"/>
            <a:ext cx="5937755" cy="1188720"/>
          </a:xfrm>
        </p:spPr>
        <p:txBody>
          <a:bodyPr/>
          <a:lstStyle/>
          <a:p>
            <a:r>
              <a:rPr lang="en-US" dirty="0"/>
              <a:t>VHDL design overview</a:t>
            </a:r>
          </a:p>
        </p:txBody>
      </p:sp>
      <p:sp>
        <p:nvSpPr>
          <p:cNvPr id="3" name="Content Placeholder 2"/>
          <p:cNvSpPr>
            <a:spLocks noGrp="1"/>
          </p:cNvSpPr>
          <p:nvPr>
            <p:ph idx="1"/>
          </p:nvPr>
        </p:nvSpPr>
        <p:spPr>
          <a:xfrm>
            <a:off x="73080" y="1304724"/>
            <a:ext cx="6677344" cy="3101983"/>
          </a:xfrm>
        </p:spPr>
        <p:txBody>
          <a:bodyPr>
            <a:noAutofit/>
          </a:bodyPr>
          <a:lstStyle/>
          <a:p>
            <a:pPr lvl="0"/>
            <a:r>
              <a:rPr lang="en-US" sz="1600" dirty="0">
                <a:latin typeface="Times New Roman" panose="02020603050405020304" pitchFamily="18" charset="0"/>
                <a:cs typeface="Times New Roman" panose="02020603050405020304" pitchFamily="18" charset="0"/>
              </a:rPr>
              <a:t>Source files: </a:t>
            </a:r>
            <a:r>
              <a:rPr lang="en-US" sz="1600" u="sng" dirty="0">
                <a:latin typeface="Times New Roman" panose="02020603050405020304" pitchFamily="18" charset="0"/>
                <a:cs typeface="Times New Roman" panose="02020603050405020304" pitchFamily="18" charset="0"/>
                <a:hlinkClick r:id="rId2"/>
              </a:rPr>
              <a:t>VHDL</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Top: </a:t>
            </a:r>
            <a:r>
              <a:rPr lang="en-US" u="sng" dirty="0" err="1">
                <a:latin typeface="Times New Roman" panose="02020603050405020304" pitchFamily="18" charset="0"/>
                <a:cs typeface="Times New Roman" panose="02020603050405020304" pitchFamily="18" charset="0"/>
                <a:hlinkClick r:id="rId2"/>
              </a:rPr>
              <a:t>nn_rgb</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Control FSM: </a:t>
            </a:r>
            <a:r>
              <a:rPr lang="en-US" u="sng" dirty="0">
                <a:latin typeface="Times New Roman" panose="02020603050405020304" pitchFamily="18" charset="0"/>
                <a:cs typeface="Times New Roman" panose="02020603050405020304" pitchFamily="18" charset="0"/>
                <a:hlinkClick r:id="rId2"/>
              </a:rPr>
              <a:t>control</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Compute blocks: </a:t>
            </a:r>
            <a:r>
              <a:rPr lang="en-US" u="sng" dirty="0">
                <a:latin typeface="Times New Roman" panose="02020603050405020304" pitchFamily="18" charset="0"/>
                <a:cs typeface="Times New Roman" panose="02020603050405020304" pitchFamily="18" charset="0"/>
                <a:hlinkClick r:id="rId2"/>
              </a:rPr>
              <a:t>neuron</a:t>
            </a:r>
            <a:r>
              <a:rPr lang="en-US" dirty="0">
                <a:latin typeface="Times New Roman" panose="02020603050405020304" pitchFamily="18" charset="0"/>
                <a:cs typeface="Times New Roman" panose="02020603050405020304" pitchFamily="18" charset="0"/>
              </a:rPr>
              <a:t>, </a:t>
            </a:r>
            <a:r>
              <a:rPr lang="en-US" u="sng" dirty="0">
                <a:latin typeface="Times New Roman" panose="02020603050405020304" pitchFamily="18" charset="0"/>
                <a:cs typeface="Times New Roman" panose="02020603050405020304" pitchFamily="18" charset="0"/>
                <a:hlinkClick r:id="rId2"/>
              </a:rPr>
              <a:t>multiplier</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Activation: </a:t>
            </a:r>
            <a:r>
              <a:rPr lang="en-US" u="sng" dirty="0" err="1">
                <a:latin typeface="Times New Roman" panose="02020603050405020304" pitchFamily="18" charset="0"/>
                <a:cs typeface="Times New Roman" panose="02020603050405020304" pitchFamily="18" charset="0"/>
                <a:hlinkClick r:id="rId2"/>
              </a:rPr>
              <a:t>sigmoid_IP</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sigmoid_lut</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Configuration/constants: </a:t>
            </a:r>
            <a:r>
              <a:rPr lang="en-US" u="sng" dirty="0" err="1">
                <a:latin typeface="Times New Roman" panose="02020603050405020304" pitchFamily="18" charset="0"/>
                <a:cs typeface="Times New Roman" panose="02020603050405020304" pitchFamily="18" charset="0"/>
                <a:hlinkClick r:id="rId2"/>
              </a:rPr>
              <a:t>config</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Simulation/test: </a:t>
            </a:r>
            <a:r>
              <a:rPr lang="en-US" u="sng" dirty="0" err="1">
                <a:latin typeface="Times New Roman" panose="02020603050405020304" pitchFamily="18" charset="0"/>
                <a:cs typeface="Times New Roman" panose="02020603050405020304" pitchFamily="18" charset="0"/>
                <a:hlinkClick r:id="rId2"/>
              </a:rPr>
              <a:t>sim_nn_rgb</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tb_nn_rgb</a:t>
            </a:r>
            <a:endParaRPr lang="en-US" dirty="0">
              <a:latin typeface="Times New Roman" panose="02020603050405020304" pitchFamily="18" charset="0"/>
              <a:cs typeface="Times New Roman" panose="02020603050405020304" pitchFamily="18" charset="0"/>
            </a:endParaRPr>
          </a:p>
          <a:p>
            <a:pPr lvl="0"/>
            <a:r>
              <a:rPr lang="en-US" sz="1600" dirty="0">
                <a:latin typeface="Times New Roman" panose="02020603050405020304" pitchFamily="18" charset="0"/>
                <a:cs typeface="Times New Roman" panose="02020603050405020304" pitchFamily="18" charset="0"/>
              </a:rPr>
              <a:t>Data path</a:t>
            </a:r>
          </a:p>
          <a:p>
            <a:pPr lvl="1"/>
            <a:r>
              <a:rPr lang="en-US" dirty="0">
                <a:latin typeface="Times New Roman" panose="02020603050405020304" pitchFamily="18" charset="0"/>
                <a:cs typeface="Times New Roman" panose="02020603050405020304" pitchFamily="18" charset="0"/>
              </a:rPr>
              <a:t>Pixels (RGB) or features are ingested by </a:t>
            </a:r>
            <a:r>
              <a:rPr lang="en-US" u="sng" dirty="0" err="1">
                <a:latin typeface="Times New Roman" panose="02020603050405020304" pitchFamily="18" charset="0"/>
                <a:cs typeface="Times New Roman" panose="02020603050405020304" pitchFamily="18" charset="0"/>
                <a:hlinkClick r:id="rId2"/>
              </a:rPr>
              <a:t>nn_rgb</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Layer 1: parallel MACs using </a:t>
            </a:r>
            <a:r>
              <a:rPr lang="en-US" u="sng" dirty="0">
                <a:latin typeface="Times New Roman" panose="02020603050405020304" pitchFamily="18" charset="0"/>
                <a:cs typeface="Times New Roman" panose="02020603050405020304" pitchFamily="18" charset="0"/>
                <a:hlinkClick r:id="rId2"/>
              </a:rPr>
              <a:t>multiplier</a:t>
            </a:r>
            <a:r>
              <a:rPr lang="en-US" dirty="0">
                <a:latin typeface="Times New Roman" panose="02020603050405020304" pitchFamily="18" charset="0"/>
                <a:cs typeface="Times New Roman" panose="02020603050405020304" pitchFamily="18" charset="0"/>
              </a:rPr>
              <a:t> accumulate weighted sums inside </a:t>
            </a:r>
            <a:r>
              <a:rPr lang="en-US" u="sng" dirty="0">
                <a:latin typeface="Times New Roman" panose="02020603050405020304" pitchFamily="18" charset="0"/>
                <a:cs typeface="Times New Roman" panose="02020603050405020304" pitchFamily="18" charset="0"/>
                <a:hlinkClick r:id="rId2"/>
              </a:rPr>
              <a:t>neuron</a:t>
            </a:r>
            <a:r>
              <a:rPr lang="en-US" dirty="0">
                <a:latin typeface="Times New Roman" panose="02020603050405020304" pitchFamily="18" charset="0"/>
                <a:cs typeface="Times New Roman" panose="02020603050405020304" pitchFamily="18" charset="0"/>
              </a:rPr>
              <a:t>, add bias, then apply activation via </a:t>
            </a:r>
            <a:r>
              <a:rPr lang="en-US" u="sng" dirty="0" err="1">
                <a:latin typeface="Times New Roman" panose="02020603050405020304" pitchFamily="18" charset="0"/>
                <a:cs typeface="Times New Roman" panose="02020603050405020304" pitchFamily="18" charset="0"/>
                <a:hlinkClick r:id="rId2"/>
              </a:rPr>
              <a:t>sigmoid_IP</a:t>
            </a:r>
            <a:r>
              <a:rPr lang="en-US" dirty="0">
                <a:latin typeface="Times New Roman" panose="02020603050405020304" pitchFamily="18" charset="0"/>
                <a:cs typeface="Times New Roman" panose="02020603050405020304" pitchFamily="18" charset="0"/>
              </a:rPr>
              <a:t> which internally uses a ROM </a:t>
            </a:r>
            <a:r>
              <a:rPr lang="en-US" u="sng" dirty="0" err="1">
                <a:latin typeface="Times New Roman" panose="02020603050405020304" pitchFamily="18" charset="0"/>
                <a:cs typeface="Times New Roman" panose="02020603050405020304" pitchFamily="18" charset="0"/>
                <a:hlinkClick r:id="rId2"/>
              </a:rPr>
              <a:t>sigmoid_lut</a:t>
            </a:r>
            <a:r>
              <a:rPr lang="en-US" dirty="0">
                <a:latin typeface="Times New Roman" panose="02020603050405020304" pitchFamily="18" charset="0"/>
                <a:cs typeface="Times New Roman" panose="02020603050405020304" pitchFamily="18" charset="0"/>
              </a:rPr>
              <a:t> initialized by </a:t>
            </a:r>
            <a:r>
              <a:rPr lang="en-US" u="sng" dirty="0" err="1">
                <a:latin typeface="Times New Roman" panose="02020603050405020304" pitchFamily="18" charset="0"/>
                <a:cs typeface="Times New Roman" panose="02020603050405020304" pitchFamily="18" charset="0"/>
                <a:hlinkClick r:id="rId2"/>
              </a:rPr>
              <a:t>activation_lut.coe</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Layer 2: repeats MAC + activation to produce output probability(</a:t>
            </a:r>
            <a:r>
              <a:rPr lang="en-US" dirty="0" err="1">
                <a:latin typeface="Times New Roman" panose="02020603050405020304" pitchFamily="18" charset="0"/>
                <a:cs typeface="Times New Roman" panose="02020603050405020304" pitchFamily="18" charset="0"/>
              </a:rPr>
              <a:t>ies</a:t>
            </a:r>
            <a:r>
              <a:rPr lang="en-US" dirty="0">
                <a:latin typeface="Times New Roman" panose="02020603050405020304" pitchFamily="18" charset="0"/>
                <a:cs typeface="Times New Roman" panose="02020603050405020304" pitchFamily="18" charset="0"/>
              </a:rPr>
              <a:t>).</a:t>
            </a:r>
          </a:p>
          <a:p>
            <a:pPr lvl="1"/>
            <a:r>
              <a:rPr lang="en-US" u="sng" dirty="0">
                <a:latin typeface="Times New Roman" panose="02020603050405020304" pitchFamily="18" charset="0"/>
                <a:cs typeface="Times New Roman" panose="02020603050405020304" pitchFamily="18" charset="0"/>
                <a:hlinkClick r:id="rId2"/>
              </a:rPr>
              <a:t>control</a:t>
            </a:r>
            <a:r>
              <a:rPr lang="en-US" dirty="0">
                <a:latin typeface="Times New Roman" panose="02020603050405020304" pitchFamily="18" charset="0"/>
                <a:cs typeface="Times New Roman" panose="02020603050405020304" pitchFamily="18" charset="0"/>
              </a:rPr>
              <a:t> sequences valid/ready, input loading and layer enable.</a:t>
            </a:r>
          </a:p>
        </p:txBody>
      </p:sp>
    </p:spTree>
    <p:extLst>
      <p:ext uri="{BB962C8B-B14F-4D97-AF65-F5344CB8AC3E}">
        <p14:creationId xmlns:p14="http://schemas.microsoft.com/office/powerpoint/2010/main" val="23288927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0985" y="647073"/>
            <a:ext cx="8299955" cy="4345461"/>
          </a:xfrm>
        </p:spPr>
        <p:txBody>
          <a:bodyPr>
            <a:noAutofit/>
          </a:bodyPr>
          <a:lstStyle/>
          <a:p>
            <a:pPr lvl="0"/>
            <a:r>
              <a:rPr lang="en-US" sz="1600" u="sng" dirty="0" err="1">
                <a:latin typeface="Times New Roman" panose="02020603050405020304" pitchFamily="18" charset="0"/>
                <a:cs typeface="Times New Roman" panose="02020603050405020304" pitchFamily="18" charset="0"/>
                <a:hlinkClick r:id="rId2"/>
              </a:rPr>
              <a:t>config</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centralizes generics/constants, e.g., number of inputs/neurons/layers, fixed-point width </a:t>
            </a:r>
            <a:r>
              <a:rPr lang="en-US" i="1" dirty="0" err="1">
                <a:latin typeface="Times New Roman" panose="02020603050405020304" pitchFamily="18" charset="0"/>
                <a:cs typeface="Times New Roman" panose="02020603050405020304" pitchFamily="18" charset="0"/>
              </a:rPr>
              <a:t>Qm</a:t>
            </a:r>
            <a:r>
              <a:rPr lang="en-US" dirty="0" err="1">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n</a:t>
            </a:r>
            <a:r>
              <a:rPr lang="en-US" dirty="0">
                <a:latin typeface="Times New Roman" panose="02020603050405020304" pitchFamily="18" charset="0"/>
                <a:cs typeface="Times New Roman" panose="02020603050405020304" pitchFamily="18" charset="0"/>
              </a:rPr>
              <a:t>, LUT size, address widths.</a:t>
            </a:r>
          </a:p>
          <a:p>
            <a:pPr lvl="0"/>
            <a:r>
              <a:rPr lang="en-US" sz="1600" u="sng" dirty="0">
                <a:latin typeface="Times New Roman" panose="02020603050405020304" pitchFamily="18" charset="0"/>
                <a:cs typeface="Times New Roman" panose="02020603050405020304" pitchFamily="18" charset="0"/>
                <a:hlinkClick r:id="rId2"/>
              </a:rPr>
              <a:t>multiplier</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fixed-point signed multiply with optional rounding/saturation and a pipeline register to map onto DSP slices in </a:t>
            </a:r>
            <a:r>
              <a:rPr lang="en-US" dirty="0" err="1">
                <a:latin typeface="Times New Roman" panose="02020603050405020304" pitchFamily="18" charset="0"/>
                <a:cs typeface="Times New Roman" panose="02020603050405020304" pitchFamily="18" charset="0"/>
              </a:rPr>
              <a:t>UltraScale</a:t>
            </a:r>
            <a:r>
              <a:rPr lang="en-US"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Role: building block for MAC inside a neuron.</a:t>
            </a:r>
          </a:p>
          <a:p>
            <a:pPr lvl="0"/>
            <a:r>
              <a:rPr lang="en-US" sz="1600" u="sng" dirty="0">
                <a:latin typeface="Times New Roman" panose="02020603050405020304" pitchFamily="18" charset="0"/>
                <a:cs typeface="Times New Roman" panose="02020603050405020304" pitchFamily="18" charset="0"/>
                <a:hlinkClick r:id="rId2"/>
              </a:rPr>
              <a:t>neuron</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compute y=σ(∑</a:t>
            </a:r>
            <a:r>
              <a:rPr lang="en-US" dirty="0" err="1">
                <a:latin typeface="Times New Roman" panose="02020603050405020304" pitchFamily="18" charset="0"/>
                <a:cs typeface="Times New Roman" panose="02020603050405020304" pitchFamily="18" charset="0"/>
              </a:rPr>
              <a:t>iwixi+b</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y</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σ</a:t>
            </a:r>
            <a:r>
              <a:rPr lang="en-US"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a:t>
            </a:r>
            <a:r>
              <a:rPr lang="en-US" i="1" dirty="0" err="1">
                <a:latin typeface="Times New Roman" panose="02020603050405020304" pitchFamily="18" charset="0"/>
                <a:cs typeface="Times New Roman" panose="02020603050405020304" pitchFamily="18" charset="0"/>
              </a:rPr>
              <a:t>wi</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xi</a:t>
            </a:r>
            <a:r>
              <a:rPr lang="en-US" dirty="0">
                <a:latin typeface="Times New Roman" panose="02020603050405020304" pitchFamily="18" charset="0"/>
                <a:cs typeface="Times New Roman" panose="02020603050405020304" pitchFamily="18" charset="0"/>
              </a:rPr>
              <a:t>​+</a:t>
            </a:r>
            <a:r>
              <a:rPr lang="en-US" i="1" dirty="0">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in fixed-point.</a:t>
            </a:r>
          </a:p>
          <a:p>
            <a:pPr lvl="1"/>
            <a:r>
              <a:rPr lang="en-US" dirty="0">
                <a:latin typeface="Times New Roman" panose="02020603050405020304" pitchFamily="18" charset="0"/>
                <a:cs typeface="Times New Roman" panose="02020603050405020304" pitchFamily="18" charset="0"/>
              </a:rPr>
              <a:t>Internals:</a:t>
            </a:r>
          </a:p>
          <a:p>
            <a:pPr lvl="2"/>
            <a:r>
              <a:rPr lang="en-US" dirty="0">
                <a:latin typeface="Times New Roman" panose="02020603050405020304" pitchFamily="18" charset="0"/>
                <a:cs typeface="Times New Roman" panose="02020603050405020304" pitchFamily="18" charset="0"/>
              </a:rPr>
              <a:t>A generate loop of </a:t>
            </a:r>
            <a:r>
              <a:rPr lang="en-US" u="sng" dirty="0">
                <a:latin typeface="Times New Roman" panose="02020603050405020304" pitchFamily="18" charset="0"/>
                <a:cs typeface="Times New Roman" panose="02020603050405020304" pitchFamily="18" charset="0"/>
                <a:hlinkClick r:id="rId2"/>
              </a:rPr>
              <a:t>multiplier</a:t>
            </a:r>
            <a:r>
              <a:rPr lang="en-US" dirty="0">
                <a:latin typeface="Times New Roman" panose="02020603050405020304" pitchFamily="18" charset="0"/>
                <a:cs typeface="Times New Roman" panose="02020603050405020304" pitchFamily="18" charset="0"/>
              </a:rPr>
              <a:t> instances for </a:t>
            </a:r>
            <a:r>
              <a:rPr lang="en-US" dirty="0" err="1">
                <a:latin typeface="Times New Roman" panose="02020603050405020304" pitchFamily="18" charset="0"/>
                <a:cs typeface="Times New Roman" panose="02020603050405020304" pitchFamily="18" charset="0"/>
              </a:rPr>
              <a:t>wi</a:t>
            </a:r>
            <a:r>
              <a:rPr lang="en-US" dirty="0">
                <a:latin typeface="Times New Roman" panose="02020603050405020304" pitchFamily="18" charset="0"/>
                <a:cs typeface="Times New Roman" panose="02020603050405020304" pitchFamily="18" charset="0"/>
              </a:rPr>
              <a:t>*xi​.</a:t>
            </a:r>
          </a:p>
          <a:p>
            <a:pPr lvl="2"/>
            <a:r>
              <a:rPr lang="en-US" dirty="0">
                <a:latin typeface="Times New Roman" panose="02020603050405020304" pitchFamily="18" charset="0"/>
                <a:cs typeface="Times New Roman" panose="02020603050405020304" pitchFamily="18" charset="0"/>
              </a:rPr>
              <a:t>An adder tree/accumulator to sum products.</a:t>
            </a:r>
          </a:p>
          <a:p>
            <a:pPr lvl="2"/>
            <a:r>
              <a:rPr lang="en-US" dirty="0">
                <a:latin typeface="Times New Roman" panose="02020603050405020304" pitchFamily="18" charset="0"/>
                <a:cs typeface="Times New Roman" panose="02020603050405020304" pitchFamily="18" charset="0"/>
              </a:rPr>
              <a:t>Bias add, optional saturation, and handoff to activation.</a:t>
            </a:r>
          </a:p>
          <a:p>
            <a:pPr lvl="1"/>
            <a:r>
              <a:rPr lang="en-US" dirty="0">
                <a:latin typeface="Times New Roman" panose="02020603050405020304" pitchFamily="18" charset="0"/>
                <a:cs typeface="Times New Roman" panose="02020603050405020304" pitchFamily="18" charset="0"/>
              </a:rPr>
              <a:t>Interfaces: vector input, weight/bias inputs (from constants or ROM), valid/ready or start/done signals.</a:t>
            </a:r>
          </a:p>
        </p:txBody>
      </p:sp>
    </p:spTree>
    <p:extLst>
      <p:ext uri="{BB962C8B-B14F-4D97-AF65-F5344CB8AC3E}">
        <p14:creationId xmlns:p14="http://schemas.microsoft.com/office/powerpoint/2010/main" val="28549341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75104" y="136892"/>
            <a:ext cx="7869649" cy="5654308"/>
          </a:xfrm>
        </p:spPr>
        <p:txBody>
          <a:bodyPr>
            <a:noAutofit/>
          </a:bodyPr>
          <a:lstStyle/>
          <a:p>
            <a:pPr lvl="0"/>
            <a:r>
              <a:rPr lang="en-US" sz="1600" u="sng" dirty="0" err="1">
                <a:latin typeface="Times New Roman" panose="02020603050405020304" pitchFamily="18" charset="0"/>
                <a:cs typeface="Times New Roman" panose="02020603050405020304" pitchFamily="18" charset="0"/>
                <a:hlinkClick r:id="rId2"/>
              </a:rPr>
              <a:t>sigmoid_IP</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activation function via lookup. Converts fixed-point input to LUT address, reads from BRAM/ROM.</a:t>
            </a:r>
          </a:p>
          <a:p>
            <a:pPr lvl="1"/>
            <a:r>
              <a:rPr lang="en-US" dirty="0">
                <a:latin typeface="Times New Roman" panose="02020603050405020304" pitchFamily="18" charset="0"/>
                <a:cs typeface="Times New Roman" panose="02020603050405020304" pitchFamily="18" charset="0"/>
              </a:rPr>
              <a:t>Internals: address scaling/clamping + instance of </a:t>
            </a:r>
            <a:r>
              <a:rPr lang="en-US" u="sng" dirty="0" err="1">
                <a:latin typeface="Times New Roman" panose="02020603050405020304" pitchFamily="18" charset="0"/>
                <a:cs typeface="Times New Roman" panose="02020603050405020304" pitchFamily="18" charset="0"/>
                <a:hlinkClick r:id="rId2"/>
              </a:rPr>
              <a:t>sigmoid_lut</a:t>
            </a:r>
            <a:r>
              <a:rPr lang="en-US" dirty="0">
                <a:latin typeface="Times New Roman" panose="02020603050405020304" pitchFamily="18" charset="0"/>
                <a:cs typeface="Times New Roman" panose="02020603050405020304" pitchFamily="18" charset="0"/>
              </a:rPr>
              <a:t> whose INIT is driven by </a:t>
            </a:r>
            <a:r>
              <a:rPr lang="en-US" u="sng" dirty="0" err="1">
                <a:latin typeface="Times New Roman" panose="02020603050405020304" pitchFamily="18" charset="0"/>
                <a:cs typeface="Times New Roman" panose="02020603050405020304" pitchFamily="18" charset="0"/>
                <a:hlinkClick r:id="rId2"/>
              </a:rPr>
              <a:t>activation_lut.coe</a:t>
            </a:r>
            <a:r>
              <a:rPr lang="en-US" dirty="0">
                <a:latin typeface="Times New Roman" panose="02020603050405020304" pitchFamily="18" charset="0"/>
                <a:cs typeface="Times New Roman" panose="02020603050405020304" pitchFamily="18" charset="0"/>
              </a:rPr>
              <a:t>.</a:t>
            </a:r>
          </a:p>
          <a:p>
            <a:pPr lvl="0"/>
            <a:r>
              <a:rPr lang="en-US" sz="1600" u="sng" dirty="0" err="1">
                <a:latin typeface="Times New Roman" panose="02020603050405020304" pitchFamily="18" charset="0"/>
                <a:cs typeface="Times New Roman" panose="02020603050405020304" pitchFamily="18" charset="0"/>
                <a:hlinkClick r:id="rId2"/>
              </a:rPr>
              <a:t>sigmoid_lut</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the ROM primitive or inferred ROM for the LUT samples.</a:t>
            </a:r>
          </a:p>
          <a:p>
            <a:pPr lvl="1"/>
            <a:r>
              <a:rPr lang="en-US" dirty="0">
                <a:latin typeface="Times New Roman" panose="02020603050405020304" pitchFamily="18" charset="0"/>
                <a:cs typeface="Times New Roman" panose="02020603050405020304" pitchFamily="18" charset="0"/>
              </a:rPr>
              <a:t>Note: synthesized into BRAM on </a:t>
            </a:r>
            <a:r>
              <a:rPr lang="en-US" dirty="0" err="1">
                <a:latin typeface="Times New Roman" panose="02020603050405020304" pitchFamily="18" charset="0"/>
                <a:cs typeface="Times New Roman" panose="02020603050405020304" pitchFamily="18" charset="0"/>
              </a:rPr>
              <a:t>Zynq</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UltraScale</a:t>
            </a:r>
            <a:r>
              <a:rPr lang="en-US" dirty="0">
                <a:latin typeface="Times New Roman" panose="02020603050405020304" pitchFamily="18" charset="0"/>
                <a:cs typeface="Times New Roman" panose="02020603050405020304" pitchFamily="18" charset="0"/>
              </a:rPr>
              <a:t>+ with COE </a:t>
            </a:r>
            <a:r>
              <a:rPr lang="en-US" dirty="0" err="1">
                <a:latin typeface="Times New Roman" panose="02020603050405020304" pitchFamily="18" charset="0"/>
                <a:cs typeface="Times New Roman" panose="02020603050405020304" pitchFamily="18" charset="0"/>
              </a:rPr>
              <a:t>init.</a:t>
            </a:r>
            <a:endParaRPr lang="en-US" dirty="0">
              <a:latin typeface="Times New Roman" panose="02020603050405020304" pitchFamily="18" charset="0"/>
              <a:cs typeface="Times New Roman" panose="02020603050405020304" pitchFamily="18" charset="0"/>
            </a:endParaRPr>
          </a:p>
          <a:p>
            <a:pPr lvl="0"/>
            <a:r>
              <a:rPr lang="en-US" sz="1600" u="sng" dirty="0" smtClean="0">
                <a:latin typeface="Times New Roman" panose="02020603050405020304" pitchFamily="18" charset="0"/>
                <a:cs typeface="Times New Roman" panose="02020603050405020304" pitchFamily="18" charset="0"/>
                <a:hlinkClick r:id="rId2"/>
              </a:rPr>
              <a:t>control</a:t>
            </a:r>
            <a:endParaRPr lang="en-US" sz="1600" dirty="0" smtClean="0">
              <a:latin typeface="Times New Roman" panose="02020603050405020304" pitchFamily="18" charset="0"/>
              <a:cs typeface="Times New Roman" panose="02020603050405020304" pitchFamily="18" charset="0"/>
            </a:endParaRPr>
          </a:p>
          <a:p>
            <a:pPr lvl="1"/>
            <a:r>
              <a:rPr lang="en-US" dirty="0" smtClean="0">
                <a:latin typeface="Times New Roman" panose="02020603050405020304" pitchFamily="18" charset="0"/>
                <a:cs typeface="Times New Roman" panose="02020603050405020304" pitchFamily="18" charset="0"/>
              </a:rPr>
              <a:t>Purpose: FSM for sequencing the NN:</a:t>
            </a:r>
          </a:p>
          <a:p>
            <a:pPr lvl="2"/>
            <a:r>
              <a:rPr lang="en-US" dirty="0" smtClean="0">
                <a:latin typeface="Times New Roman" panose="02020603050405020304" pitchFamily="18" charset="0"/>
                <a:cs typeface="Times New Roman" panose="02020603050405020304" pitchFamily="18" charset="0"/>
              </a:rPr>
              <a:t>Load inputs for layer 1</a:t>
            </a:r>
          </a:p>
          <a:p>
            <a:pPr lvl="2"/>
            <a:r>
              <a:rPr lang="en-US" dirty="0" smtClean="0">
                <a:latin typeface="Times New Roman" panose="02020603050405020304" pitchFamily="18" charset="0"/>
                <a:cs typeface="Times New Roman" panose="02020603050405020304" pitchFamily="18" charset="0"/>
              </a:rPr>
              <a:t>Start MACs, wait for activation latency</a:t>
            </a:r>
          </a:p>
          <a:p>
            <a:pPr lvl="2"/>
            <a:r>
              <a:rPr lang="en-US" dirty="0" smtClean="0">
                <a:latin typeface="Times New Roman" panose="02020603050405020304" pitchFamily="18" charset="0"/>
                <a:cs typeface="Times New Roman" panose="02020603050405020304" pitchFamily="18" charset="0"/>
              </a:rPr>
              <a:t>Feed layer 2</a:t>
            </a:r>
          </a:p>
          <a:p>
            <a:pPr lvl="2"/>
            <a:r>
              <a:rPr lang="en-US" dirty="0" smtClean="0">
                <a:latin typeface="Times New Roman" panose="02020603050405020304" pitchFamily="18" charset="0"/>
                <a:cs typeface="Times New Roman" panose="02020603050405020304" pitchFamily="18" charset="0"/>
              </a:rPr>
              <a:t>Output valid flag and result</a:t>
            </a:r>
          </a:p>
          <a:p>
            <a:pPr lvl="1"/>
            <a:r>
              <a:rPr lang="en-US" dirty="0" smtClean="0">
                <a:latin typeface="Times New Roman" panose="02020603050405020304" pitchFamily="18" charset="0"/>
                <a:cs typeface="Times New Roman" panose="02020603050405020304" pitchFamily="18" charset="0"/>
              </a:rPr>
              <a:t>Interfaces: clock/reset, input stream (pixels or features), start/valid/ready, and status outputs.</a:t>
            </a:r>
          </a:p>
          <a:p>
            <a:endParaRPr 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05772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7880" y="701668"/>
            <a:ext cx="7394519" cy="4713014"/>
          </a:xfrm>
        </p:spPr>
        <p:txBody>
          <a:bodyPr/>
          <a:lstStyle/>
          <a:p>
            <a:pPr lvl="0"/>
            <a:r>
              <a:rPr lang="en-US" sz="1600" u="sng" dirty="0" err="1">
                <a:latin typeface="Times New Roman" panose="02020603050405020304" pitchFamily="18" charset="0"/>
                <a:cs typeface="Times New Roman" panose="02020603050405020304" pitchFamily="18" charset="0"/>
                <a:hlinkClick r:id="rId2"/>
              </a:rPr>
              <a:t>nn_rgb</a:t>
            </a:r>
            <a:endParaRPr lang="en-US" sz="16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Purpose: top-level; instantiates control + arrays of neurons for each layer + sigmoid IP; wires constants from </a:t>
            </a:r>
            <a:r>
              <a:rPr lang="en-US" u="sng" dirty="0" err="1">
                <a:latin typeface="Times New Roman" panose="02020603050405020304" pitchFamily="18" charset="0"/>
                <a:cs typeface="Times New Roman" panose="02020603050405020304" pitchFamily="18" charset="0"/>
                <a:hlinkClick r:id="rId2"/>
              </a:rPr>
              <a:t>config</a:t>
            </a:r>
            <a:r>
              <a:rPr lang="en-US" dirty="0">
                <a:latin typeface="Times New Roman" panose="02020603050405020304" pitchFamily="18" charset="0"/>
                <a:cs typeface="Times New Roman" panose="02020603050405020304" pitchFamily="18" charset="0"/>
              </a:rPr>
              <a:t>; exposes the top I/O.</a:t>
            </a:r>
          </a:p>
          <a:p>
            <a:pPr lvl="1"/>
            <a:r>
              <a:rPr lang="en-US" dirty="0">
                <a:latin typeface="Times New Roman" panose="02020603050405020304" pitchFamily="18" charset="0"/>
                <a:cs typeface="Times New Roman" panose="02020603050405020304" pitchFamily="18" charset="0"/>
              </a:rPr>
              <a:t>Role: integration point used as the synthesis top in </a:t>
            </a:r>
            <a:r>
              <a:rPr lang="en-US" dirty="0" err="1">
                <a:latin typeface="Times New Roman" panose="02020603050405020304" pitchFamily="18" charset="0"/>
                <a:cs typeface="Times New Roman" panose="02020603050405020304" pitchFamily="18" charset="0"/>
              </a:rPr>
              <a:t>Vivado</a:t>
            </a:r>
            <a:r>
              <a:rPr lang="en-US" dirty="0">
                <a:latin typeface="Times New Roman" panose="02020603050405020304" pitchFamily="18" charset="0"/>
                <a:cs typeface="Times New Roman" panose="02020603050405020304" pitchFamily="18" charset="0"/>
              </a:rPr>
              <a:t> TCL scripts</a:t>
            </a:r>
            <a:r>
              <a:rPr lang="en-US" dirty="0" smtClean="0">
                <a:latin typeface="Times New Roman" panose="02020603050405020304" pitchFamily="18" charset="0"/>
                <a:cs typeface="Times New Roman" panose="02020603050405020304" pitchFamily="18" charset="0"/>
              </a:rPr>
              <a:t>.</a:t>
            </a:r>
          </a:p>
          <a:p>
            <a:pPr lvl="1"/>
            <a:endParaRPr lang="en-US" dirty="0">
              <a:latin typeface="Times New Roman" panose="02020603050405020304" pitchFamily="18" charset="0"/>
              <a:cs typeface="Times New Roman" panose="02020603050405020304" pitchFamily="18" charset="0"/>
            </a:endParaRPr>
          </a:p>
          <a:p>
            <a:pPr marL="228600" lvl="1" indent="0">
              <a:buNone/>
            </a:pPr>
            <a:endParaRPr lang="en-US" dirty="0">
              <a:latin typeface="Times New Roman" panose="02020603050405020304" pitchFamily="18" charset="0"/>
              <a:cs typeface="Times New Roman" panose="02020603050405020304" pitchFamily="18" charset="0"/>
            </a:endParaRPr>
          </a:p>
          <a:p>
            <a:pPr lvl="0"/>
            <a:r>
              <a:rPr lang="en-US" sz="1600" dirty="0" err="1">
                <a:latin typeface="Times New Roman" panose="02020603050405020304" pitchFamily="18" charset="0"/>
                <a:cs typeface="Times New Roman" panose="02020603050405020304" pitchFamily="18" charset="0"/>
              </a:rPr>
              <a:t>Testbenches</a:t>
            </a:r>
            <a:endParaRPr lang="en-US" sz="1600" dirty="0">
              <a:latin typeface="Times New Roman" panose="02020603050405020304" pitchFamily="18" charset="0"/>
              <a:cs typeface="Times New Roman" panose="02020603050405020304" pitchFamily="18" charset="0"/>
            </a:endParaRPr>
          </a:p>
          <a:p>
            <a:pPr lvl="1"/>
            <a:r>
              <a:rPr lang="en-US" u="sng" dirty="0" err="1">
                <a:latin typeface="Times New Roman" panose="02020603050405020304" pitchFamily="18" charset="0"/>
                <a:cs typeface="Times New Roman" panose="02020603050405020304" pitchFamily="18" charset="0"/>
                <a:hlinkClick r:id="rId2"/>
              </a:rPr>
              <a:t>sim_nn_rgb</a:t>
            </a:r>
            <a:r>
              <a:rPr lang="en-US" dirty="0">
                <a:latin typeface="Times New Roman" panose="02020603050405020304" pitchFamily="18" charset="0"/>
                <a:cs typeface="Times New Roman" panose="02020603050405020304" pitchFamily="18" charset="0"/>
              </a:rPr>
              <a:t>, </a:t>
            </a:r>
            <a:r>
              <a:rPr lang="en-US" u="sng" dirty="0" err="1">
                <a:latin typeface="Times New Roman" panose="02020603050405020304" pitchFamily="18" charset="0"/>
                <a:cs typeface="Times New Roman" panose="02020603050405020304" pitchFamily="18" charset="0"/>
                <a:hlinkClick r:id="rId2"/>
              </a:rPr>
              <a:t>tb_nn_rgb</a:t>
            </a:r>
            <a:r>
              <a:rPr lang="en-US" dirty="0">
                <a:latin typeface="Times New Roman" panose="02020603050405020304" pitchFamily="18" charset="0"/>
                <a:cs typeface="Times New Roman" panose="02020603050405020304" pitchFamily="18" charset="0"/>
              </a:rPr>
              <a:t> read </a:t>
            </a:r>
            <a:r>
              <a:rPr lang="en-US" u="sng" dirty="0" err="1">
                <a:latin typeface="Times New Roman" panose="02020603050405020304" pitchFamily="18" charset="0"/>
                <a:cs typeface="Times New Roman" panose="02020603050405020304" pitchFamily="18" charset="0"/>
                <a:hlinkClick r:id="rId2"/>
              </a:rPr>
              <a:t>image_stimuli.ppm</a:t>
            </a:r>
            <a:r>
              <a:rPr lang="en-US" dirty="0">
                <a:latin typeface="Times New Roman" panose="02020603050405020304" pitchFamily="18" charset="0"/>
                <a:cs typeface="Times New Roman" panose="02020603050405020304" pitchFamily="18" charset="0"/>
              </a:rPr>
              <a:t> and compare to </a:t>
            </a:r>
            <a:r>
              <a:rPr lang="en-US" u="sng" dirty="0" err="1">
                <a:latin typeface="Times New Roman" panose="02020603050405020304" pitchFamily="18" charset="0"/>
                <a:cs typeface="Times New Roman" panose="02020603050405020304" pitchFamily="18" charset="0"/>
                <a:hlinkClick r:id="rId2"/>
              </a:rPr>
              <a:t>image_response.ppm</a:t>
            </a:r>
            <a:r>
              <a:rPr lang="en-US" dirty="0">
                <a:latin typeface="Times New Roman" panose="02020603050405020304" pitchFamily="18" charset="0"/>
                <a:cs typeface="Times New Roman" panose="02020603050405020304" pitchFamily="18" charset="0"/>
              </a:rPr>
              <a:t> or golden vectors in </a:t>
            </a:r>
            <a:r>
              <a:rPr lang="en-US" u="sng" dirty="0" err="1">
                <a:latin typeface="Times New Roman" panose="02020603050405020304" pitchFamily="18" charset="0"/>
                <a:cs typeface="Times New Roman" panose="02020603050405020304" pitchFamily="18" charset="0"/>
                <a:hlinkClick r:id="rId2"/>
              </a:rPr>
              <a:t>testvectors</a:t>
            </a:r>
            <a:r>
              <a:rPr lang="en-US" dirty="0">
                <a:latin typeface="Times New Roman" panose="02020603050405020304" pitchFamily="18" charset="0"/>
                <a:cs typeface="Times New Roman" panose="02020603050405020304" pitchFamily="18" charset="0"/>
              </a:rPr>
              <a:t>.</a:t>
            </a:r>
          </a:p>
          <a:p>
            <a:endParaRPr lang="en-US" dirty="0"/>
          </a:p>
        </p:txBody>
      </p:sp>
    </p:spTree>
    <p:extLst>
      <p:ext uri="{BB962C8B-B14F-4D97-AF65-F5344CB8AC3E}">
        <p14:creationId xmlns:p14="http://schemas.microsoft.com/office/powerpoint/2010/main" val="2598117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370332"/>
            <a:ext cx="5937755" cy="1188720"/>
          </a:xfrm>
        </p:spPr>
        <p:txBody>
          <a:bodyPr>
            <a:normAutofit/>
          </a:bodyPr>
          <a:lstStyle/>
          <a:p>
            <a:r>
              <a:rPr lang="en-US" dirty="0"/>
              <a:t>Data path</a:t>
            </a:r>
          </a:p>
        </p:txBody>
      </p:sp>
      <p:sp>
        <p:nvSpPr>
          <p:cNvPr id="3" name="Content Placeholder 2"/>
          <p:cNvSpPr>
            <a:spLocks noGrp="1"/>
          </p:cNvSpPr>
          <p:nvPr>
            <p:ph idx="1"/>
          </p:nvPr>
        </p:nvSpPr>
        <p:spPr>
          <a:xfrm>
            <a:off x="610962" y="1678821"/>
            <a:ext cx="8192379" cy="4219955"/>
          </a:xfrm>
        </p:spPr>
        <p:txBody>
          <a:bodyPr>
            <a:noAutofit/>
          </a:bodyPr>
          <a:lstStyle/>
          <a:p>
            <a:r>
              <a:rPr lang="en-US" dirty="0">
                <a:latin typeface="Times New Roman" panose="02020603050405020304" pitchFamily="18" charset="0"/>
                <a:cs typeface="Times New Roman" panose="02020603050405020304" pitchFamily="18" charset="0"/>
              </a:rPr>
              <a:t>Ingress (per clock):</a:t>
            </a:r>
          </a:p>
          <a:p>
            <a:r>
              <a:rPr lang="en-US" dirty="0">
                <a:latin typeface="Times New Roman" panose="02020603050405020304" pitchFamily="18" charset="0"/>
                <a:cs typeface="Times New Roman" panose="02020603050405020304" pitchFamily="18" charset="0"/>
              </a:rPr>
              <a:t>Top entity </a:t>
            </a:r>
            <a:r>
              <a:rPr lang="en-US" dirty="0" err="1">
                <a:latin typeface="Times New Roman" panose="02020603050405020304" pitchFamily="18" charset="0"/>
                <a:cs typeface="Times New Roman" panose="02020603050405020304" pitchFamily="18" charset="0"/>
              </a:rPr>
              <a:t>nn_rgb</a:t>
            </a:r>
            <a:r>
              <a:rPr lang="en-US" dirty="0">
                <a:latin typeface="Times New Roman" panose="02020603050405020304" pitchFamily="18" charset="0"/>
                <a:cs typeface="Times New Roman" panose="02020603050405020304" pitchFamily="18" charset="0"/>
              </a:rPr>
              <a:t> exposes video ports:</a:t>
            </a:r>
          </a:p>
          <a:p>
            <a:r>
              <a:rPr lang="en-US" dirty="0">
                <a:latin typeface="Times New Roman" panose="02020603050405020304" pitchFamily="18" charset="0"/>
                <a:cs typeface="Times New Roman" panose="02020603050405020304" pitchFamily="18" charset="0"/>
              </a:rPr>
              <a:t>Inputs: </a:t>
            </a:r>
            <a:r>
              <a:rPr lang="en-US" dirty="0" err="1">
                <a:latin typeface="Times New Roman" panose="02020603050405020304" pitchFamily="18" charset="0"/>
                <a:cs typeface="Times New Roman" panose="02020603050405020304" pitchFamily="18" charset="0"/>
              </a:rPr>
              <a:t>vs_in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hs_in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de_in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r_in</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g_in</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b_in</a:t>
            </a:r>
            <a:r>
              <a:rPr lang="en-US" dirty="0">
                <a:latin typeface="Times New Roman" panose="02020603050405020304" pitchFamily="18" charset="0"/>
                <a:cs typeface="Times New Roman" panose="02020603050405020304" pitchFamily="18" charset="0"/>
              </a:rPr>
              <a:t>[7:0]</a:t>
            </a:r>
          </a:p>
          <a:p>
            <a:r>
              <a:rPr lang="en-US" dirty="0">
                <a:latin typeface="Times New Roman" panose="02020603050405020304" pitchFamily="18" charset="0"/>
                <a:cs typeface="Times New Roman" panose="02020603050405020304" pitchFamily="18" charset="0"/>
              </a:rPr>
              <a:t>Outputs: </a:t>
            </a:r>
            <a:r>
              <a:rPr lang="en-US" dirty="0" err="1">
                <a:latin typeface="Times New Roman" panose="02020603050405020304" pitchFamily="18" charset="0"/>
                <a:cs typeface="Times New Roman" panose="02020603050405020304" pitchFamily="18" charset="0"/>
              </a:rPr>
              <a:t>vs_out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hs_out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de_out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r_out</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g_out</a:t>
            </a:r>
            <a:r>
              <a:rPr lang="en-US" dirty="0">
                <a:latin typeface="Times New Roman" panose="02020603050405020304" pitchFamily="18" charset="0"/>
                <a:cs typeface="Times New Roman" panose="02020603050405020304" pitchFamily="18" charset="0"/>
              </a:rPr>
              <a:t>[7:0], </a:t>
            </a:r>
            <a:r>
              <a:rPr lang="en-US" dirty="0" err="1">
                <a:latin typeface="Times New Roman" panose="02020603050405020304" pitchFamily="18" charset="0"/>
                <a:cs typeface="Times New Roman" panose="02020603050405020304" pitchFamily="18" charset="0"/>
              </a:rPr>
              <a:t>b_out</a:t>
            </a:r>
            <a:r>
              <a:rPr lang="en-US" dirty="0">
                <a:latin typeface="Times New Roman" panose="02020603050405020304" pitchFamily="18" charset="0"/>
                <a:cs typeface="Times New Roman" panose="02020603050405020304" pitchFamily="18" charset="0"/>
              </a:rPr>
              <a:t>[7:0]</a:t>
            </a:r>
          </a:p>
          <a:p>
            <a:r>
              <a:rPr lang="en-US" dirty="0">
                <a:latin typeface="Times New Roman" panose="02020603050405020304" pitchFamily="18" charset="0"/>
                <a:cs typeface="Times New Roman" panose="02020603050405020304" pitchFamily="18" charset="0"/>
              </a:rPr>
              <a:t>On each </a:t>
            </a:r>
            <a:r>
              <a:rPr lang="en-US" dirty="0" err="1">
                <a:latin typeface="Times New Roman" panose="02020603050405020304" pitchFamily="18" charset="0"/>
                <a:cs typeface="Times New Roman" panose="02020603050405020304" pitchFamily="18" charset="0"/>
              </a:rPr>
              <a:t>clk</a:t>
            </a:r>
            <a:r>
              <a:rPr lang="en-US" dirty="0">
                <a:latin typeface="Times New Roman" panose="02020603050405020304" pitchFamily="18" charset="0"/>
                <a:cs typeface="Times New Roman" panose="02020603050405020304" pitchFamily="18" charset="0"/>
              </a:rPr>
              <a:t>, when </a:t>
            </a:r>
            <a:r>
              <a:rPr lang="en-US" dirty="0" err="1">
                <a:latin typeface="Times New Roman" panose="02020603050405020304" pitchFamily="18" charset="0"/>
                <a:cs typeface="Times New Roman" panose="02020603050405020304" pitchFamily="18" charset="0"/>
              </a:rPr>
              <a:t>de_in</a:t>
            </a:r>
            <a:r>
              <a:rPr lang="en-US" dirty="0">
                <a:latin typeface="Times New Roman" panose="02020603050405020304" pitchFamily="18" charset="0"/>
                <a:cs typeface="Times New Roman" panose="02020603050405020304" pitchFamily="18" charset="0"/>
              </a:rPr>
              <a:t> = '1', the 8‑bit </a:t>
            </a:r>
            <a:r>
              <a:rPr lang="en-US" dirty="0" err="1">
                <a:latin typeface="Times New Roman" panose="02020603050405020304" pitchFamily="18" charset="0"/>
                <a:cs typeface="Times New Roman" panose="02020603050405020304" pitchFamily="18" charset="0"/>
              </a:rPr>
              <a:t>r_in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g_in</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b_in</a:t>
            </a:r>
            <a:r>
              <a:rPr lang="en-US" dirty="0">
                <a:latin typeface="Times New Roman" panose="02020603050405020304" pitchFamily="18" charset="0"/>
                <a:cs typeface="Times New Roman" panose="02020603050405020304" pitchFamily="18" charset="0"/>
              </a:rPr>
              <a:t> samples are registered and forwarded as </a:t>
            </a:r>
            <a:r>
              <a:rPr lang="en-US" dirty="0" smtClean="0">
                <a:latin typeface="Times New Roman" panose="02020603050405020304" pitchFamily="18" charset="0"/>
                <a:cs typeface="Times New Roman" panose="02020603050405020304" pitchFamily="18" charset="0"/>
              </a:rPr>
              <a:t>feature inputs to the first-layer </a:t>
            </a:r>
            <a:r>
              <a:rPr lang="en-US" dirty="0">
                <a:latin typeface="Times New Roman" panose="02020603050405020304" pitchFamily="18" charset="0"/>
                <a:cs typeface="Times New Roman" panose="02020603050405020304" pitchFamily="18" charset="0"/>
              </a:rPr>
              <a:t>MACs.</a:t>
            </a:r>
          </a:p>
          <a:p>
            <a:r>
              <a:rPr lang="en-US" dirty="0">
                <a:latin typeface="Times New Roman" panose="02020603050405020304" pitchFamily="18" charset="0"/>
                <a:cs typeface="Times New Roman" panose="02020603050405020304" pitchFamily="18" charset="0"/>
              </a:rPr>
              <a:t>Control/timing alignment:</a:t>
            </a:r>
          </a:p>
          <a:p>
            <a:r>
              <a:rPr lang="en-US" dirty="0">
                <a:latin typeface="Times New Roman" panose="02020603050405020304" pitchFamily="18" charset="0"/>
                <a:cs typeface="Times New Roman" panose="02020603050405020304" pitchFamily="18" charset="0"/>
              </a:rPr>
              <a:t>The controller gates “pixel valid” into the compute path and delays vs/</a:t>
            </a:r>
            <a:r>
              <a:rPr lang="en-US" dirty="0" err="1">
                <a:latin typeface="Times New Roman" panose="02020603050405020304" pitchFamily="18" charset="0"/>
                <a:cs typeface="Times New Roman" panose="02020603050405020304" pitchFamily="18" charset="0"/>
              </a:rPr>
              <a:t>hs</a:t>
            </a:r>
            <a:r>
              <a:rPr lang="en-US" dirty="0">
                <a:latin typeface="Times New Roman" panose="02020603050405020304" pitchFamily="18" charset="0"/>
                <a:cs typeface="Times New Roman" panose="02020603050405020304" pitchFamily="18" charset="0"/>
              </a:rPr>
              <a:t>/de to align with the NN latency, so output timing matches the corresponding processed pixel. </a:t>
            </a:r>
          </a:p>
        </p:txBody>
      </p:sp>
    </p:spTree>
    <p:extLst>
      <p:ext uri="{BB962C8B-B14F-4D97-AF65-F5344CB8AC3E}">
        <p14:creationId xmlns:p14="http://schemas.microsoft.com/office/powerpoint/2010/main" val="31119611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5835" y="322729"/>
            <a:ext cx="8408894" cy="6104965"/>
          </a:xfrm>
        </p:spPr>
        <p:txBody>
          <a:bodyPr>
            <a:noAutofit/>
          </a:bodyPr>
          <a:lstStyle/>
          <a:p>
            <a:pPr marL="0" indent="0">
              <a:buNone/>
            </a:pPr>
            <a:r>
              <a:rPr lang="en-US" dirty="0">
                <a:latin typeface="Times New Roman" panose="02020603050405020304" pitchFamily="18" charset="0"/>
                <a:cs typeface="Times New Roman" panose="02020603050405020304" pitchFamily="18" charset="0"/>
              </a:rPr>
              <a:t>Compute</a:t>
            </a:r>
            <a:r>
              <a:rPr lang="en-US" dirty="0" smtClean="0">
                <a:latin typeface="Times New Roman" panose="02020603050405020304" pitchFamily="18" charset="0"/>
                <a:cs typeface="Times New Roman" panose="02020603050405020304" pitchFamily="18" charset="0"/>
              </a:rPr>
              <a:t>:</a:t>
            </a:r>
          </a:p>
          <a:p>
            <a:pPr marL="0" indent="0">
              <a:buNone/>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Layer MACs multiply each incoming feature by fixed weights using the multiplier, sum inside the neuron, add bias, then apply activation in </a:t>
            </a:r>
            <a:r>
              <a:rPr lang="en-US" dirty="0" err="1">
                <a:latin typeface="Times New Roman" panose="02020603050405020304" pitchFamily="18" charset="0"/>
                <a:cs typeface="Times New Roman" panose="02020603050405020304" pitchFamily="18" charset="0"/>
              </a:rPr>
              <a:t>sigmoid_IP</a:t>
            </a:r>
            <a:r>
              <a:rPr lang="en-US" dirty="0">
                <a:latin typeface="Times New Roman" panose="02020603050405020304" pitchFamily="18" charset="0"/>
                <a:cs typeface="Times New Roman" panose="02020603050405020304" pitchFamily="18" charset="0"/>
              </a:rPr>
              <a:t>, which reads the LUT ROM </a:t>
            </a:r>
            <a:r>
              <a:rPr lang="en-US" dirty="0" err="1">
                <a:latin typeface="Times New Roman" panose="02020603050405020304" pitchFamily="18" charset="0"/>
                <a:cs typeface="Times New Roman" panose="02020603050405020304" pitchFamily="18" charset="0"/>
              </a:rPr>
              <a:t>sigmoid_lut</a:t>
            </a:r>
            <a:r>
              <a:rPr lang="en-US" dirty="0">
                <a:latin typeface="Times New Roman" panose="02020603050405020304" pitchFamily="18" charset="0"/>
                <a:cs typeface="Times New Roman" panose="02020603050405020304" pitchFamily="18" charset="0"/>
              </a:rPr>
              <a:t> initialized by </a:t>
            </a:r>
            <a:r>
              <a:rPr lang="en-US" dirty="0" err="1">
                <a:latin typeface="Times New Roman" panose="02020603050405020304" pitchFamily="18" charset="0"/>
                <a:cs typeface="Times New Roman" panose="02020603050405020304" pitchFamily="18" charset="0"/>
              </a:rPr>
              <a:t>activation_lut.coe</a:t>
            </a:r>
            <a:r>
              <a:rPr lang="en-US" dirty="0" smtClean="0">
                <a:latin typeface="Times New Roman" panose="02020603050405020304" pitchFamily="18" charset="0"/>
                <a:cs typeface="Times New Roman" panose="02020603050405020304" pitchFamily="18" charset="0"/>
              </a:rPr>
              <a:t>.</a:t>
            </a:r>
          </a:p>
          <a:p>
            <a:pPr>
              <a:lnSpc>
                <a:spcPct val="150000"/>
              </a:lnSpc>
            </a:pPr>
            <a:endParaRPr lang="en-US" dirty="0">
              <a:latin typeface="Times New Roman" panose="02020603050405020304" pitchFamily="18" charset="0"/>
              <a:cs typeface="Times New Roman" panose="02020603050405020304" pitchFamily="18" charset="0"/>
            </a:endParaRPr>
          </a:p>
          <a:p>
            <a:pPr>
              <a:lnSpc>
                <a:spcPct val="150000"/>
              </a:lnSpc>
            </a:pPr>
            <a:r>
              <a:rPr lang="en-US" dirty="0">
                <a:latin typeface="Times New Roman" panose="02020603050405020304" pitchFamily="18" charset="0"/>
                <a:cs typeface="Times New Roman" panose="02020603050405020304" pitchFamily="18" charset="0"/>
              </a:rPr>
              <a:t>Fixed‑point scaling follows the project’s </a:t>
            </a:r>
            <a:r>
              <a:rPr lang="en-US" dirty="0" err="1" smtClean="0">
                <a:latin typeface="Times New Roman" panose="02020603050405020304" pitchFamily="18" charset="0"/>
                <a:cs typeface="Times New Roman" panose="02020603050405020304" pitchFamily="18" charset="0"/>
              </a:rPr>
              <a:t>Qm.n</a:t>
            </a:r>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settings from </a:t>
            </a:r>
            <a:r>
              <a:rPr lang="en-US" dirty="0" err="1">
                <a:latin typeface="Times New Roman" panose="02020603050405020304" pitchFamily="18" charset="0"/>
                <a:cs typeface="Times New Roman" panose="02020603050405020304" pitchFamily="18" charset="0"/>
              </a:rPr>
              <a:t>config</a:t>
            </a:r>
            <a:r>
              <a:rPr lang="en-US" dirty="0">
                <a:latin typeface="Times New Roman" panose="02020603050405020304" pitchFamily="18" charset="0"/>
                <a:cs typeface="Times New Roman" panose="02020603050405020304" pitchFamily="18" charset="0"/>
              </a:rPr>
              <a:t> (inputs are interpreted in that format; arithmetic is scaled by </a:t>
            </a:r>
            <a:r>
              <a:rPr lang="en-US" dirty="0" smtClean="0">
                <a:latin typeface="Times New Roman" panose="02020603050405020304" pitchFamily="18" charset="0"/>
                <a:cs typeface="Times New Roman" panose="02020603050405020304" pitchFamily="18" charset="0"/>
              </a:rPr>
              <a:t>the </a:t>
            </a:r>
            <a:r>
              <a:rPr lang="en-US" dirty="0">
                <a:latin typeface="Times New Roman" panose="02020603050405020304" pitchFamily="18" charset="0"/>
                <a:cs typeface="Times New Roman" panose="02020603050405020304" pitchFamily="18" charset="0"/>
              </a:rPr>
              <a:t>NN result is mapped to </a:t>
            </a:r>
            <a:r>
              <a:rPr lang="en-US" dirty="0" err="1">
                <a:latin typeface="Times New Roman" panose="02020603050405020304" pitchFamily="18" charset="0"/>
                <a:cs typeface="Times New Roman" panose="02020603050405020304" pitchFamily="18" charset="0"/>
              </a:rPr>
              <a:t>r_out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g_out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b_out</a:t>
            </a:r>
            <a:r>
              <a:rPr lang="en-US" dirty="0">
                <a:latin typeface="Times New Roman" panose="02020603050405020304" pitchFamily="18" charset="0"/>
                <a:cs typeface="Times New Roman" panose="02020603050405020304" pitchFamily="18" charset="0"/>
              </a:rPr>
              <a:t> (and </a:t>
            </a:r>
            <a:r>
              <a:rPr lang="en-US" dirty="0" err="1">
                <a:latin typeface="Times New Roman" panose="02020603050405020304" pitchFamily="18" charset="0"/>
                <a:cs typeface="Times New Roman" panose="02020603050405020304" pitchFamily="18" charset="0"/>
              </a:rPr>
              <a:t>de_out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hs_out</a:t>
            </a:r>
            <a:r>
              <a:rPr lang="en-US" dirty="0">
                <a:latin typeface="Times New Roman" panose="02020603050405020304" pitchFamily="18" charset="0"/>
                <a:cs typeface="Times New Roman" panose="02020603050405020304" pitchFamily="18" charset="0"/>
              </a:rPr>
              <a:t>/</a:t>
            </a:r>
            <a:r>
              <a:rPr lang="en-US" dirty="0" err="1">
                <a:latin typeface="Times New Roman" panose="02020603050405020304" pitchFamily="18" charset="0"/>
                <a:cs typeface="Times New Roman" panose="02020603050405020304" pitchFamily="18" charset="0"/>
              </a:rPr>
              <a:t>vs_out</a:t>
            </a:r>
            <a:r>
              <a:rPr lang="en-US" dirty="0">
                <a:latin typeface="Times New Roman" panose="02020603050405020304" pitchFamily="18" charset="0"/>
                <a:cs typeface="Times New Roman" panose="02020603050405020304" pitchFamily="18" charset="0"/>
              </a:rPr>
              <a:t> are the delayed timing), ready for downstream video.</a:t>
            </a:r>
            <a:endParaRPr lang="en-US" dirty="0"/>
          </a:p>
        </p:txBody>
      </p:sp>
    </p:spTree>
    <p:extLst>
      <p:ext uri="{BB962C8B-B14F-4D97-AF65-F5344CB8AC3E}">
        <p14:creationId xmlns:p14="http://schemas.microsoft.com/office/powerpoint/2010/main" val="26507030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6045" y="208410"/>
            <a:ext cx="5937755" cy="1188720"/>
          </a:xfrm>
        </p:spPr>
        <p:txBody>
          <a:bodyPr/>
          <a:lstStyle/>
          <a:p>
            <a:r>
              <a:rPr dirty="0"/>
              <a:t>Resource and Timing</a:t>
            </a:r>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l="23427" r="45477"/>
          <a:stretch/>
        </p:blipFill>
        <p:spPr>
          <a:xfrm>
            <a:off x="0" y="4385052"/>
            <a:ext cx="4435008" cy="678267"/>
          </a:xfrm>
        </p:spPr>
      </p:pic>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13236" t="40344" r="37548" b="21940"/>
          <a:stretch/>
        </p:blipFill>
        <p:spPr>
          <a:xfrm>
            <a:off x="0" y="1459883"/>
            <a:ext cx="6691880" cy="2906036"/>
          </a:xfrm>
          <a:prstGeom prst="rect">
            <a:avLst/>
          </a:prstGeom>
        </p:spPr>
      </p:pic>
      <p:pic>
        <p:nvPicPr>
          <p:cNvPr id="3" name="Picture 2"/>
          <p:cNvPicPr>
            <a:picLocks noChangeAspect="1"/>
          </p:cNvPicPr>
          <p:nvPr/>
        </p:nvPicPr>
        <p:blipFill rotWithShape="1">
          <a:blip r:embed="rId4">
            <a:extLst>
              <a:ext uri="{28A0092B-C50C-407E-A947-70E740481C1C}">
                <a14:useLocalDpi xmlns:a14="http://schemas.microsoft.com/office/drawing/2010/main" val="0"/>
              </a:ext>
            </a:extLst>
          </a:blip>
          <a:srcRect l="13137" t="39506" r="50294" b="45577"/>
          <a:stretch/>
        </p:blipFill>
        <p:spPr>
          <a:xfrm>
            <a:off x="0" y="5063319"/>
            <a:ext cx="5987789" cy="1380565"/>
          </a:xfrm>
          <a:prstGeom prst="rect">
            <a:avLst/>
          </a:prstGeom>
        </p:spPr>
      </p:pic>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73235" t="1" r="11667" b="-6693"/>
          <a:stretch/>
        </p:blipFill>
        <p:spPr>
          <a:xfrm>
            <a:off x="4435008" y="3856058"/>
            <a:ext cx="3779069" cy="127001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Limitations and Future Work</a:t>
            </a:r>
          </a:p>
        </p:txBody>
      </p:sp>
      <p:sp>
        <p:nvSpPr>
          <p:cNvPr id="3" name="Content Placeholder 2"/>
          <p:cNvSpPr>
            <a:spLocks noGrp="1"/>
          </p:cNvSpPr>
          <p:nvPr>
            <p:ph idx="1"/>
          </p:nvPr>
        </p:nvSpPr>
        <p:spPr>
          <a:xfrm>
            <a:off x="672353" y="2528047"/>
            <a:ext cx="6871447" cy="3211981"/>
          </a:xfrm>
        </p:spPr>
        <p:txBody>
          <a:bodyPr/>
          <a:lstStyle/>
          <a:p>
            <a:r>
              <a:rPr lang="en-US" dirty="0">
                <a:latin typeface="Times New Roman" panose="02020603050405020304" pitchFamily="18" charset="0"/>
                <a:cs typeface="Times New Roman" panose="02020603050405020304" pitchFamily="18" charset="0"/>
              </a:rPr>
              <a:t>Training and inference on a single device without software is limited, despite the flexibility and inheritance of parallelism on FPGAs. The backpropagation modules and data chain can be implemented in terms of area and resource usage</a:t>
            </a:r>
            <a:r>
              <a:rPr lang="en-US" dirty="0" smtClean="0">
                <a:latin typeface="Times New Roman" panose="02020603050405020304" pitchFamily="18" charset="0"/>
                <a:cs typeface="Times New Roman" panose="02020603050405020304" pitchFamily="18" charset="0"/>
              </a:rPr>
              <a:t>.</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Additionally, even though pattern recognition is effective, more work is required to expand the architecture or add convolution layers. Decision-making and feature selection might benefit from greater research since more variables can address issues in real time during a wildfire.</a:t>
            </a:r>
            <a:endParaRPr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a:xfrm>
            <a:off x="845164" y="2431857"/>
            <a:ext cx="7459515" cy="4085484"/>
          </a:xfrm>
        </p:spPr>
        <p:txBody>
          <a:bodyPr>
            <a:normAutofit/>
          </a:bodyPr>
          <a:lstStyle/>
          <a:p>
            <a:r>
              <a:rPr lang="en-US" dirty="0"/>
              <a:t>This project's goal was to create a VHDL model of an artificial neural network for the purpose of determining the system's functions and creating modules to carry them out comprised the initial work. </a:t>
            </a:r>
          </a:p>
          <a:p>
            <a:r>
              <a:rPr lang="en-US" dirty="0"/>
              <a:t>The modules' timing behavior and functioning were properly confirmed. Additionally, the model was developed using VHDL for inference and Python programming for training.</a:t>
            </a:r>
          </a:p>
          <a:p>
            <a:r>
              <a:rPr lang="en-US" dirty="0"/>
              <a:t>Using FPGA, we take advantage of the high speeds achievable using hardware, and as a result, it is a beneficial and economic investment for designs requiring artificial Neural Networks.</a:t>
            </a:r>
          </a:p>
          <a:p>
            <a:r>
              <a:rPr lang="en-US" dirty="0"/>
              <a:t>In conclusion, this work demonstrates that low-latency wildfire indication on an FPGA is feasible and efficient. </a:t>
            </a:r>
          </a:p>
        </p:txBody>
      </p:sp>
    </p:spTree>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TM10001115[[fn=Parcel]]</Template>
  <TotalTime>4141</TotalTime>
  <Words>2244</Words>
  <Application>Microsoft Office PowerPoint</Application>
  <PresentationFormat>On-screen Show (4:3)</PresentationFormat>
  <Paragraphs>215</Paragraphs>
  <Slides>32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Gill Sans MT</vt:lpstr>
      <vt:lpstr>Times New Roman</vt:lpstr>
      <vt:lpstr>Parcel</vt:lpstr>
      <vt:lpstr>Neural Network for Wildfire Detection: a VHDL approach</vt:lpstr>
      <vt:lpstr>FPGA implementation, neural networks, nonlinear systems</vt:lpstr>
      <vt:lpstr>Problem Definition</vt:lpstr>
      <vt:lpstr>What is neural network?</vt:lpstr>
      <vt:lpstr>PowerPoint Presentation</vt:lpstr>
      <vt:lpstr>Activation functions</vt:lpstr>
      <vt:lpstr>Backpropagation</vt:lpstr>
      <vt:lpstr>Iteration</vt:lpstr>
      <vt:lpstr>Refinement</vt:lpstr>
      <vt:lpstr>architecture</vt:lpstr>
      <vt:lpstr>Neural Network Topology and Quantization</vt:lpstr>
      <vt:lpstr>Fixed-Point and LUT Activation</vt:lpstr>
      <vt:lpstr>Dataset and Sampling</vt:lpstr>
      <vt:lpstr>Experimental Results</vt:lpstr>
      <vt:lpstr>Dataset Examples</vt:lpstr>
      <vt:lpstr>Simulation Output</vt:lpstr>
      <vt:lpstr>Hardware implementation</vt:lpstr>
      <vt:lpstr>FPGA Top-Level Processing Chain</vt:lpstr>
      <vt:lpstr>Key RTL Modules (nn_rgb.vhd)</vt:lpstr>
      <vt:lpstr>The neuron</vt:lpstr>
      <vt:lpstr>Hardware Platforms</vt:lpstr>
      <vt:lpstr>End-to-end workflow</vt:lpstr>
      <vt:lpstr>PowerPoint Presentation</vt:lpstr>
      <vt:lpstr>VHDL design overview</vt:lpstr>
      <vt:lpstr>PowerPoint Presentation</vt:lpstr>
      <vt:lpstr>PowerPoint Presentation</vt:lpstr>
      <vt:lpstr>PowerPoint Presentation</vt:lpstr>
      <vt:lpstr>Data path</vt:lpstr>
      <vt:lpstr>PowerPoint Presentation</vt:lpstr>
      <vt:lpstr>Resource and Timing</vt:lpstr>
      <vt:lpstr>Limitations and Future Work</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Wildfire Pixel Classification on FPGA</dc:title>
  <dc:subject/>
  <dc:creator>ASUS MAXIMUS IX HERO</dc:creator>
  <cp:keywords/>
  <dc:description>generated using python-pptx</dc:description>
  <cp:lastModifiedBy>ASUS MAXIMUS IX HERO</cp:lastModifiedBy>
  <cp:revision>57</cp:revision>
  <dcterms:created xsi:type="dcterms:W3CDTF">2013-01-27T09:14:16Z</dcterms:created>
  <dcterms:modified xsi:type="dcterms:W3CDTF">2026-02-24T14:56:26Z</dcterms:modified>
  <cp:category/>
</cp:coreProperties>
</file>